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5" r:id="rId17"/>
    <p:sldId id="270" r:id="rId18"/>
    <p:sldId id="271" r:id="rId19"/>
    <p:sldId id="272" r:id="rId20"/>
    <p:sldId id="273" r:id="rId21"/>
  </p:sldIdLst>
  <p:sldSz cx="12192000" cy="6858000"/>
  <p:notesSz cx="6858000" cy="12192000"/>
  <p:embeddedFontLst>
    <p:embeddedFont>
      <p:font typeface="MiSans" panose="020B0604020202020204" charset="-122"/>
      <p:regular r:id="rId23"/>
    </p:embeddedFont>
    <p:embeddedFont>
      <p:font typeface="Noto Sans SC" panose="020B0604020202020204" charset="-128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248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86A10-02F0-F466-0D90-EEE77CA7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29E80-983E-0D5F-6E79-D6E31846B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04E9B-F0A3-8138-DAAB-333C09D43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55E85-C13E-1A44-D240-ECA04909B0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92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1D8A-B7E2-5BC2-49F2-F384EC364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45238-97F1-9BED-ADE0-322BA532B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2DDB1-A058-E788-4F71-4DFC1BC89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EE3FF-7A2E-EE66-862E-AF65762CC1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283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99" cy="68646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12416" y="2297430"/>
            <a:ext cx="8567166" cy="22743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Step &amp; Calorie Monitor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648335" y="4560570"/>
            <a:ext cx="159766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2463165" y="4560570"/>
            <a:ext cx="173355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2" name="Shape 7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3" name="Shape 8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9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3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2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6042" y="-5184"/>
            <a:ext cx="12203363" cy="68710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9027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1037028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125028" y="6072610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213029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301029" y="6176992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 flipH="1">
            <a:off x="11601221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1601221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flipH="1">
            <a:off x="11473046" y="6726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1473046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flipH="1">
            <a:off x="11342032" y="672670"/>
            <a:ext cx="77797" cy="72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1342032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 flipH="1">
            <a:off x="11211018" y="672670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1211018" y="672670"/>
            <a:ext cx="77797" cy="72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6" name="Image 1" descr="https://kimi-img.moonshot.cn/pub/slides/slides_tmpl/image/25-08-27-20:02:05-d2nf7f98bjvh7rlj05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71" y="1406668"/>
            <a:ext cx="723900" cy="1181100"/>
          </a:xfrm>
          <a:prstGeom prst="rect">
            <a:avLst/>
          </a:prstGeom>
        </p:spPr>
      </p:pic>
      <p:pic>
        <p:nvPicPr>
          <p:cNvPr id="17" name="Image 2" descr="https://kimi-img.moonshot.cn/pub/slides/slides_tmpl/image/25-08-27-20:02:05-d2nf7f98bjvh7rlj05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71" y="2281312"/>
            <a:ext cx="723900" cy="1181100"/>
          </a:xfrm>
          <a:prstGeom prst="rect">
            <a:avLst/>
          </a:prstGeom>
        </p:spPr>
      </p:pic>
      <p:pic>
        <p:nvPicPr>
          <p:cNvPr id="18" name="Image 3" descr="https://kimi-img.moonshot.cn/pub/slides/slides_tmpl/image/25-08-27-20:02:05-d2nf7f98bjvh7rlj05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71" y="3169208"/>
            <a:ext cx="723900" cy="1181100"/>
          </a:xfrm>
          <a:prstGeom prst="rect">
            <a:avLst/>
          </a:prstGeom>
        </p:spPr>
      </p:pic>
      <p:pic>
        <p:nvPicPr>
          <p:cNvPr id="19" name="Image 4" descr="https://kimi-img.moonshot.cn/pub/slides/slides_tmpl/image/25-08-27-20:02:05-d2nf7f98bjvh7rlj05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71" y="4043852"/>
            <a:ext cx="723900" cy="1181100"/>
          </a:xfrm>
          <a:prstGeom prst="rect">
            <a:avLst/>
          </a:prstGeom>
        </p:spPr>
      </p:pic>
      <p:pic>
        <p:nvPicPr>
          <p:cNvPr id="20" name="Image 5" descr="https://kimi-img.moonshot.cn/pub/slides/slides_tmpl/image/25-08-27-20:02:05-d2nf7f98bjvh7rlj05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71" y="4926141"/>
            <a:ext cx="723900" cy="11811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7405" y="568325"/>
            <a:ext cx="3472180" cy="79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22" name="Image 6" descr="https://kimi-img.moonshot.cn/pub/slides/slides_tmpl/image/25-08-27-20:02:05-d2nf7f98bjvh7rlj05t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304" y="1456073"/>
            <a:ext cx="355600" cy="3048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790075" y="1709633"/>
            <a:ext cx="904934" cy="731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6031149" y="1779473"/>
            <a:ext cx="4225547" cy="6253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Team &amp; Tools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4790075" y="2571025"/>
            <a:ext cx="957943" cy="731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6031149" y="2640865"/>
            <a:ext cx="4225547" cy="6253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Pipeline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4790075" y="3472173"/>
            <a:ext cx="957943" cy="731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6031149" y="3542013"/>
            <a:ext cx="4225547" cy="6253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Calibration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4790075" y="4320312"/>
            <a:ext cx="957943" cy="731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6031149" y="4390152"/>
            <a:ext cx="4225547" cy="6253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Demo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4790075" y="5202601"/>
            <a:ext cx="957943" cy="731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3"/>
          <p:cNvSpPr/>
          <p:nvPr/>
        </p:nvSpPr>
        <p:spPr>
          <a:xfrm>
            <a:off x="6031149" y="5272441"/>
            <a:ext cx="4225547" cy="6253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Results &amp; Future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Team &amp; Tools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37EC6-5026-B0E8-1030-EA1F945D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>
            <a:extLst>
              <a:ext uri="{FF2B5EF4-FFF2-40B4-BE49-F238E27FC236}">
                <a16:creationId xmlns:a16="http://schemas.microsoft.com/office/drawing/2014/main" id="{2A0D9FD9-49CD-C01C-C3C3-BC05D39335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EFF0C7D-2E76-0E71-1180-17FCADCD70A3}"/>
              </a:ext>
            </a:extLst>
          </p:cNvPr>
          <p:cNvSpPr/>
          <p:nvPr/>
        </p:nvSpPr>
        <p:spPr>
          <a:xfrm>
            <a:off x="869307" y="963666"/>
            <a:ext cx="3832016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1CEFEFC-4EDE-C7B9-ADFC-0D10AE6F0275}"/>
              </a:ext>
            </a:extLst>
          </p:cNvPr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E83B016-31CF-FE26-8476-0A6E1FE5D9A3}"/>
              </a:ext>
            </a:extLst>
          </p:cNvPr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CAEB1B5-AB1C-90E7-A10D-4B8CAF732BE4}"/>
              </a:ext>
            </a:extLst>
          </p:cNvPr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BACFB48-0144-93F7-E312-7CF990851850}"/>
              </a:ext>
            </a:extLst>
          </p:cNvPr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B3DDBBA-E614-E75F-204B-4A5764879867}"/>
              </a:ext>
            </a:extLst>
          </p:cNvPr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49D1130-B1F0-9D29-06EF-DF777251A7AB}"/>
              </a:ext>
            </a:extLst>
          </p:cNvPr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92AE053-52AA-6917-3A59-5F72A1ED5CC3}"/>
              </a:ext>
            </a:extLst>
          </p:cNvPr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DB7C3F9-CA2E-8F86-9EDC-DF3C039EE028}"/>
              </a:ext>
            </a:extLst>
          </p:cNvPr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7318BF8-4C80-EB90-CEA2-A019390F7C52}"/>
              </a:ext>
            </a:extLst>
          </p:cNvPr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A9EF5CA-A7D1-8C34-75A1-33D4592D7BB3}"/>
              </a:ext>
            </a:extLst>
          </p:cNvPr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49A808E-8D46-AB2C-8A9F-6787EB4C06A9}"/>
              </a:ext>
            </a:extLst>
          </p:cNvPr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E2B99A82-B951-7197-475D-7989D37FA1FB}"/>
              </a:ext>
            </a:extLst>
          </p:cNvPr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7FE904B-46A3-B185-4A5A-5672827180D6}"/>
              </a:ext>
            </a:extLst>
          </p:cNvPr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>
            <a:extLst>
              <a:ext uri="{FF2B5EF4-FFF2-40B4-BE49-F238E27FC236}">
                <a16:creationId xmlns:a16="http://schemas.microsoft.com/office/drawing/2014/main" id="{5E784B09-20F4-9F15-4755-F42B33DA1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723" y="1464310"/>
            <a:ext cx="3657600" cy="12700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11F77982-6CD6-A6A1-56C1-74142A8AC94A}"/>
              </a:ext>
            </a:extLst>
          </p:cNvPr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756382-FE12-C310-5159-3C1202E145D2}"/>
              </a:ext>
            </a:extLst>
          </p:cNvPr>
          <p:cNvSpPr txBox="1"/>
          <p:nvPr/>
        </p:nvSpPr>
        <p:spPr>
          <a:xfrm>
            <a:off x="2637848" y="3013501"/>
            <a:ext cx="67950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VEMULA VISHNU VARDHAN		2403A54076</a:t>
            </a:r>
          </a:p>
          <a:p>
            <a:pPr algn="ctr"/>
            <a:endParaRPr lang="en-US" sz="1600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ANUMULA NITHIN			2403A54077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ASAM VISHNU VARDHAN			2403A54080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1321706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793399"/>
            <a:ext cx="760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Vision &amp; Tech Stack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504599"/>
            <a:ext cx="7480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built an end-to-end AI fitness tracker that converts raw accelerometer data into accurate step counts and calorie burn, then surfaces results through an interactive Streamlit dashboard.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3723799"/>
            <a:ext cx="2336800" cy="1320800"/>
          </a:xfrm>
          <a:custGeom>
            <a:avLst/>
            <a:gdLst/>
            <a:ahLst/>
            <a:cxnLst/>
            <a:rect l="l" t="t" r="r" b="b"/>
            <a:pathLst>
              <a:path w="2336800" h="1320800">
                <a:moveTo>
                  <a:pt x="101596" y="0"/>
                </a:moveTo>
                <a:lnTo>
                  <a:pt x="2235204" y="0"/>
                </a:lnTo>
                <a:cubicBezTo>
                  <a:pt x="2291314" y="0"/>
                  <a:pt x="2336800" y="45486"/>
                  <a:pt x="2336800" y="101596"/>
                </a:cubicBezTo>
                <a:lnTo>
                  <a:pt x="2336800" y="1219204"/>
                </a:lnTo>
                <a:cubicBezTo>
                  <a:pt x="2336800" y="1275314"/>
                  <a:pt x="2291314" y="1320800"/>
                  <a:pt x="22352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  <a:ln w="10160">
            <a:solidFill>
              <a:srgbClr val="3A76B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43171" y="3886359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7" name="Text 4"/>
          <p:cNvSpPr/>
          <p:nvPr/>
        </p:nvSpPr>
        <p:spPr>
          <a:xfrm>
            <a:off x="372110" y="4241959"/>
            <a:ext cx="212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Pipeline Core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78460" y="4495959"/>
            <a:ext cx="210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3.10, pandas, scikit-learn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65743" y="3723799"/>
            <a:ext cx="2336800" cy="1320800"/>
          </a:xfrm>
          <a:custGeom>
            <a:avLst/>
            <a:gdLst/>
            <a:ahLst/>
            <a:cxnLst/>
            <a:rect l="l" t="t" r="r" b="b"/>
            <a:pathLst>
              <a:path w="2336800" h="1320800">
                <a:moveTo>
                  <a:pt x="101596" y="0"/>
                </a:moveTo>
                <a:lnTo>
                  <a:pt x="2235204" y="0"/>
                </a:lnTo>
                <a:cubicBezTo>
                  <a:pt x="2291314" y="0"/>
                  <a:pt x="2336800" y="45486"/>
                  <a:pt x="2336800" y="101596"/>
                </a:cubicBezTo>
                <a:lnTo>
                  <a:pt x="2336800" y="1219204"/>
                </a:lnTo>
                <a:cubicBezTo>
                  <a:pt x="2336800" y="1275314"/>
                  <a:pt x="2291314" y="1320800"/>
                  <a:pt x="22352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  <a:ln w="10160">
            <a:solidFill>
              <a:srgbClr val="3A76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93014" y="388635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57150"/>
                </a:moveTo>
                <a:cubicBezTo>
                  <a:pt x="38100" y="46613"/>
                  <a:pt x="46613" y="38100"/>
                  <a:pt x="57150" y="38100"/>
                </a:cubicBezTo>
                <a:lnTo>
                  <a:pt x="152400" y="38100"/>
                </a:lnTo>
                <a:cubicBezTo>
                  <a:pt x="162937" y="38100"/>
                  <a:pt x="171450" y="46613"/>
                  <a:pt x="171450" y="57150"/>
                </a:cubicBezTo>
                <a:lnTo>
                  <a:pt x="171450" y="228600"/>
                </a:lnTo>
                <a:lnTo>
                  <a:pt x="228600" y="228600"/>
                </a:lnTo>
                <a:lnTo>
                  <a:pt x="228600" y="152400"/>
                </a:lnTo>
                <a:cubicBezTo>
                  <a:pt x="228600" y="141863"/>
                  <a:pt x="237113" y="133350"/>
                  <a:pt x="24765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266700" y="171450"/>
                </a:lnTo>
                <a:lnTo>
                  <a:pt x="266700" y="247650"/>
                </a:lnTo>
                <a:cubicBezTo>
                  <a:pt x="266700" y="258187"/>
                  <a:pt x="258187" y="266700"/>
                  <a:pt x="247650" y="266700"/>
                </a:cubicBezTo>
                <a:lnTo>
                  <a:pt x="152400" y="266700"/>
                </a:lnTo>
                <a:cubicBezTo>
                  <a:pt x="141863" y="266700"/>
                  <a:pt x="133350" y="258187"/>
                  <a:pt x="133350" y="247650"/>
                </a:cubicBezTo>
                <a:lnTo>
                  <a:pt x="133350" y="76200"/>
                </a:lnTo>
                <a:lnTo>
                  <a:pt x="76200" y="76200"/>
                </a:lnTo>
                <a:lnTo>
                  <a:pt x="76200" y="152400"/>
                </a:lnTo>
                <a:cubicBezTo>
                  <a:pt x="76200" y="162937"/>
                  <a:pt x="67687" y="171450"/>
                  <a:pt x="57150" y="171450"/>
                </a:cubicBezTo>
                <a:lnTo>
                  <a:pt x="19050" y="171450"/>
                </a:lnTo>
                <a:cubicBezTo>
                  <a:pt x="8513" y="171450"/>
                  <a:pt x="0" y="162937"/>
                  <a:pt x="0" y="152400"/>
                </a:cubicBezTo>
                <a:cubicBezTo>
                  <a:pt x="0" y="141863"/>
                  <a:pt x="8513" y="133350"/>
                  <a:pt x="19050" y="133350"/>
                </a:cubicBezTo>
                <a:lnTo>
                  <a:pt x="38100" y="133350"/>
                </a:lnTo>
                <a:lnTo>
                  <a:pt x="38100" y="57150"/>
                </a:ln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11" name="Text 8"/>
          <p:cNvSpPr/>
          <p:nvPr/>
        </p:nvSpPr>
        <p:spPr>
          <a:xfrm>
            <a:off x="2883852" y="4241959"/>
            <a:ext cx="212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Signal Processing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890202" y="4495959"/>
            <a:ext cx="210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SciPy, NumPy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7485" y="3723799"/>
            <a:ext cx="2336800" cy="1320800"/>
          </a:xfrm>
          <a:custGeom>
            <a:avLst/>
            <a:gdLst/>
            <a:ahLst/>
            <a:cxnLst/>
            <a:rect l="l" t="t" r="r" b="b"/>
            <a:pathLst>
              <a:path w="2336800" h="1320800">
                <a:moveTo>
                  <a:pt x="101596" y="0"/>
                </a:moveTo>
                <a:lnTo>
                  <a:pt x="2235204" y="0"/>
                </a:lnTo>
                <a:cubicBezTo>
                  <a:pt x="2291314" y="0"/>
                  <a:pt x="2336800" y="45486"/>
                  <a:pt x="2336800" y="101596"/>
                </a:cubicBezTo>
                <a:lnTo>
                  <a:pt x="2336800" y="1219204"/>
                </a:lnTo>
                <a:cubicBezTo>
                  <a:pt x="2336800" y="1275314"/>
                  <a:pt x="2291314" y="1320800"/>
                  <a:pt x="22352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3A76B8">
              <a:alpha val="30196"/>
            </a:srgbClr>
          </a:solidFill>
          <a:ln w="10160">
            <a:solidFill>
              <a:srgbClr val="3A76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85706" y="3886359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5038" y="142875"/>
                </a:moveTo>
                <a:lnTo>
                  <a:pt x="200263" y="142875"/>
                </a:lnTo>
                <a:cubicBezTo>
                  <a:pt x="189726" y="142875"/>
                  <a:pt x="181213" y="134362"/>
                  <a:pt x="181213" y="123825"/>
                </a:cubicBezTo>
                <a:lnTo>
                  <a:pt x="181213" y="19050"/>
                </a:lnTo>
                <a:cubicBezTo>
                  <a:pt x="181213" y="8513"/>
                  <a:pt x="189786" y="-119"/>
                  <a:pt x="200204" y="1250"/>
                </a:cubicBezTo>
                <a:cubicBezTo>
                  <a:pt x="263902" y="9704"/>
                  <a:pt x="314385" y="60186"/>
                  <a:pt x="322838" y="123885"/>
                </a:cubicBezTo>
                <a:cubicBezTo>
                  <a:pt x="324207" y="134303"/>
                  <a:pt x="315575" y="142875"/>
                  <a:pt x="305038" y="142875"/>
                </a:cubicBezTo>
                <a:close/>
                <a:moveTo>
                  <a:pt x="132517" y="22146"/>
                </a:moveTo>
                <a:cubicBezTo>
                  <a:pt x="143292" y="19883"/>
                  <a:pt x="152638" y="28694"/>
                  <a:pt x="152638" y="39707"/>
                </a:cubicBezTo>
                <a:lnTo>
                  <a:pt x="152638" y="157163"/>
                </a:lnTo>
                <a:cubicBezTo>
                  <a:pt x="152638" y="160496"/>
                  <a:pt x="153829" y="163711"/>
                  <a:pt x="155912" y="166271"/>
                </a:cubicBezTo>
                <a:lnTo>
                  <a:pt x="234553" y="261164"/>
                </a:lnTo>
                <a:cubicBezTo>
                  <a:pt x="241518" y="269558"/>
                  <a:pt x="240030" y="282238"/>
                  <a:pt x="230445" y="287417"/>
                </a:cubicBezTo>
                <a:cubicBezTo>
                  <a:pt x="210145" y="298490"/>
                  <a:pt x="186869" y="304800"/>
                  <a:pt x="162163" y="304800"/>
                </a:cubicBezTo>
                <a:cubicBezTo>
                  <a:pt x="83284" y="304800"/>
                  <a:pt x="19288" y="240804"/>
                  <a:pt x="19288" y="161925"/>
                </a:cubicBezTo>
                <a:cubicBezTo>
                  <a:pt x="19288" y="93166"/>
                  <a:pt x="67806" y="35778"/>
                  <a:pt x="132517" y="22146"/>
                </a:cubicBezTo>
                <a:close/>
                <a:moveTo>
                  <a:pt x="284440" y="171450"/>
                </a:moveTo>
                <a:lnTo>
                  <a:pt x="322540" y="171450"/>
                </a:lnTo>
                <a:cubicBezTo>
                  <a:pt x="333554" y="171450"/>
                  <a:pt x="342364" y="180796"/>
                  <a:pt x="340102" y="191572"/>
                </a:cubicBezTo>
                <a:cubicBezTo>
                  <a:pt x="334030" y="220385"/>
                  <a:pt x="319266" y="245983"/>
                  <a:pt x="298668" y="265509"/>
                </a:cubicBezTo>
                <a:cubicBezTo>
                  <a:pt x="291346" y="272475"/>
                  <a:pt x="279856" y="270986"/>
                  <a:pt x="273427" y="263188"/>
                </a:cubicBezTo>
                <a:lnTo>
                  <a:pt x="223183" y="202644"/>
                </a:lnTo>
                <a:cubicBezTo>
                  <a:pt x="212884" y="190202"/>
                  <a:pt x="221754" y="171450"/>
                  <a:pt x="237827" y="171450"/>
                </a:cubicBezTo>
                <a:lnTo>
                  <a:pt x="284381" y="171450"/>
                </a:ln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15" name="Text 12"/>
          <p:cNvSpPr/>
          <p:nvPr/>
        </p:nvSpPr>
        <p:spPr>
          <a:xfrm>
            <a:off x="5395595" y="4241959"/>
            <a:ext cx="212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Visualization &amp; UI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01945" y="4495959"/>
            <a:ext cx="210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matplotlib, Streamlit</a:t>
            </a:r>
            <a:endParaRPr lang="en-US" sz="1600" dirty="0"/>
          </a:p>
        </p:txBody>
      </p:sp>
      <p:pic>
        <p:nvPicPr>
          <p:cNvPr id="17" name="Image 1" descr="https://kimi-web-img.moonshot.cn/img/img.freepik.com/8b7cb23de5ee06d6350e1c99f9fc78fa31a70826.jpg"/>
          <p:cNvPicPr>
            <a:picLocks noChangeAspect="1"/>
          </p:cNvPicPr>
          <p:nvPr/>
        </p:nvPicPr>
        <p:blipFill>
          <a:blip r:embed="rId4"/>
          <a:srcRect t="4397" b="4397"/>
          <a:stretch/>
        </p:blipFill>
        <p:spPr>
          <a:xfrm>
            <a:off x="8043228" y="1651000"/>
            <a:ext cx="3898900" cy="3556000"/>
          </a:xfrm>
          <a:prstGeom prst="roundRect">
            <a:avLst>
              <a:gd name="adj" fmla="val 4286"/>
            </a:avLst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08024" y="1386840"/>
            <a:ext cx="340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Meet the Team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30129" y="1996440"/>
            <a:ext cx="1013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Jointly developed all modules, maintaining Git version control and unit-tested CI throughout the project lifecycle.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707640"/>
            <a:ext cx="3670300" cy="2743200"/>
          </a:xfrm>
          <a:custGeom>
            <a:avLst/>
            <a:gdLst/>
            <a:ahLst/>
            <a:cxnLst/>
            <a:rect l="l" t="t" r="r" b="b"/>
            <a:pathLst>
              <a:path w="3670300" h="2743200">
                <a:moveTo>
                  <a:pt x="152412" y="0"/>
                </a:moveTo>
                <a:lnTo>
                  <a:pt x="3517888" y="0"/>
                </a:lnTo>
                <a:cubicBezTo>
                  <a:pt x="3602063" y="0"/>
                  <a:pt x="3670300" y="68237"/>
                  <a:pt x="3670300" y="152412"/>
                </a:cubicBezTo>
                <a:lnTo>
                  <a:pt x="3670300" y="2590788"/>
                </a:lnTo>
                <a:cubicBezTo>
                  <a:pt x="3670300" y="2674963"/>
                  <a:pt x="3602063" y="2743200"/>
                  <a:pt x="3517888" y="2743200"/>
                </a:cubicBezTo>
                <a:lnTo>
                  <a:pt x="152412" y="2743200"/>
                </a:lnTo>
                <a:cubicBezTo>
                  <a:pt x="68237" y="2743200"/>
                  <a:pt x="0" y="2674963"/>
                  <a:pt x="0" y="25907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  <a:ln w="10160">
            <a:solidFill>
              <a:srgbClr val="3A76B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90028" y="2921000"/>
            <a:ext cx="1117600" cy="1117600"/>
          </a:xfrm>
          <a:custGeom>
            <a:avLst/>
            <a:gdLst/>
            <a:ahLst/>
            <a:cxnLst/>
            <a:rect l="l" t="t" r="r" b="b"/>
            <a:pathLst>
              <a:path w="1117600" h="1117600">
                <a:moveTo>
                  <a:pt x="558800" y="0"/>
                </a:moveTo>
                <a:lnTo>
                  <a:pt x="558800" y="0"/>
                </a:lnTo>
                <a:cubicBezTo>
                  <a:pt x="867210" y="0"/>
                  <a:pt x="1117600" y="250390"/>
                  <a:pt x="1117600" y="558800"/>
                </a:cubicBezTo>
                <a:lnTo>
                  <a:pt x="1117600" y="558800"/>
                </a:lnTo>
                <a:cubicBezTo>
                  <a:pt x="1117600" y="867210"/>
                  <a:pt x="867210" y="1117600"/>
                  <a:pt x="558800" y="1117600"/>
                </a:cubicBezTo>
                <a:lnTo>
                  <a:pt x="558800" y="1117600"/>
                </a:lnTo>
                <a:cubicBezTo>
                  <a:pt x="250390" y="1117600"/>
                  <a:pt x="0" y="867210"/>
                  <a:pt x="0" y="558800"/>
                </a:cubicBezTo>
                <a:lnTo>
                  <a:pt x="0" y="558800"/>
                </a:lnTo>
                <a:cubicBezTo>
                  <a:pt x="0" y="250390"/>
                  <a:pt x="250390" y="0"/>
                  <a:pt x="5588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34B1C9"/>
            </a:solidFill>
            <a:prstDash val="solid"/>
          </a:ln>
        </p:spPr>
      </p:sp>
      <p:pic>
        <p:nvPicPr>
          <p:cNvPr id="7" name="Image 1" descr="https://statics.moonshot.cn/kimi-ppt/html-gen/static/image-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828" y="2971800"/>
            <a:ext cx="1117600" cy="1117600"/>
          </a:xfrm>
          <a:prstGeom prst="roundRect">
            <a:avLst>
              <a:gd name="adj" fmla="val 50000"/>
            </a:avLst>
          </a:prstGeom>
        </p:spPr>
      </p:pic>
      <p:sp>
        <p:nvSpPr>
          <p:cNvPr id="8" name="Text 4"/>
          <p:cNvSpPr/>
          <p:nvPr/>
        </p:nvSpPr>
        <p:spPr>
          <a:xfrm>
            <a:off x="403860" y="4292600"/>
            <a:ext cx="33909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AEA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VEMULA VISHNU VARDAHAN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566386" y="50038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4B1C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2403A54076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50214" y="3012440"/>
            <a:ext cx="3670300" cy="2387600"/>
          </a:xfrm>
          <a:custGeom>
            <a:avLst/>
            <a:gdLst/>
            <a:ahLst/>
            <a:cxnLst/>
            <a:rect l="l" t="t" r="r" b="b"/>
            <a:pathLst>
              <a:path w="3670300" h="2387600">
                <a:moveTo>
                  <a:pt x="152401" y="0"/>
                </a:moveTo>
                <a:lnTo>
                  <a:pt x="3517899" y="0"/>
                </a:lnTo>
                <a:cubicBezTo>
                  <a:pt x="3602068" y="0"/>
                  <a:pt x="3670300" y="68232"/>
                  <a:pt x="3670300" y="152401"/>
                </a:cubicBezTo>
                <a:lnTo>
                  <a:pt x="3670300" y="2235199"/>
                </a:lnTo>
                <a:cubicBezTo>
                  <a:pt x="3670300" y="2319368"/>
                  <a:pt x="3602068" y="2387600"/>
                  <a:pt x="3517899" y="2387600"/>
                </a:cubicBezTo>
                <a:lnTo>
                  <a:pt x="152401" y="2387600"/>
                </a:lnTo>
                <a:cubicBezTo>
                  <a:pt x="68232" y="2387600"/>
                  <a:pt x="0" y="2319368"/>
                  <a:pt x="0" y="2235199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  <a:ln w="10160">
            <a:solidFill>
              <a:srgbClr val="3A76B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241" y="3225800"/>
            <a:ext cx="1117600" cy="1117600"/>
          </a:xfrm>
          <a:custGeom>
            <a:avLst/>
            <a:gdLst/>
            <a:ahLst/>
            <a:cxnLst/>
            <a:rect l="l" t="t" r="r" b="b"/>
            <a:pathLst>
              <a:path w="1117600" h="1117600">
                <a:moveTo>
                  <a:pt x="558800" y="0"/>
                </a:moveTo>
                <a:lnTo>
                  <a:pt x="558800" y="0"/>
                </a:lnTo>
                <a:cubicBezTo>
                  <a:pt x="867210" y="0"/>
                  <a:pt x="1117600" y="250390"/>
                  <a:pt x="1117600" y="558800"/>
                </a:cubicBezTo>
                <a:lnTo>
                  <a:pt x="1117600" y="558800"/>
                </a:lnTo>
                <a:cubicBezTo>
                  <a:pt x="1117600" y="867210"/>
                  <a:pt x="867210" y="1117600"/>
                  <a:pt x="558800" y="1117600"/>
                </a:cubicBezTo>
                <a:lnTo>
                  <a:pt x="558800" y="1117600"/>
                </a:lnTo>
                <a:cubicBezTo>
                  <a:pt x="250390" y="1117600"/>
                  <a:pt x="0" y="867210"/>
                  <a:pt x="0" y="558800"/>
                </a:cubicBezTo>
                <a:lnTo>
                  <a:pt x="0" y="558800"/>
                </a:lnTo>
                <a:cubicBezTo>
                  <a:pt x="0" y="250390"/>
                  <a:pt x="250390" y="0"/>
                  <a:pt x="5588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34B1C9"/>
            </a:solidFill>
            <a:prstDash val="solid"/>
          </a:ln>
        </p:spPr>
      </p:sp>
      <p:pic>
        <p:nvPicPr>
          <p:cNvPr id="12" name="Image 2" descr="https://statics.moonshot.cn/kimi-ppt/html-gen/static/image-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041" y="3276600"/>
            <a:ext cx="1117600" cy="1117600"/>
          </a:xfrm>
          <a:prstGeom prst="roundRect">
            <a:avLst>
              <a:gd name="adj" fmla="val 50000"/>
            </a:avLst>
          </a:prstGeom>
        </p:spPr>
      </p:pic>
      <p:sp>
        <p:nvSpPr>
          <p:cNvPr id="13" name="Text 8"/>
          <p:cNvSpPr/>
          <p:nvPr/>
        </p:nvSpPr>
        <p:spPr>
          <a:xfrm>
            <a:off x="4931886" y="4597400"/>
            <a:ext cx="23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AEA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ANUMULA NITHIN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562600" y="49530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4B1C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2403A54077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246428" y="2707640"/>
            <a:ext cx="3670300" cy="2387600"/>
          </a:xfrm>
          <a:custGeom>
            <a:avLst/>
            <a:gdLst/>
            <a:ahLst/>
            <a:cxnLst/>
            <a:rect l="l" t="t" r="r" b="b"/>
            <a:pathLst>
              <a:path w="3670300" h="2387600">
                <a:moveTo>
                  <a:pt x="152401" y="0"/>
                </a:moveTo>
                <a:lnTo>
                  <a:pt x="3517899" y="0"/>
                </a:lnTo>
                <a:cubicBezTo>
                  <a:pt x="3602068" y="0"/>
                  <a:pt x="3670300" y="68232"/>
                  <a:pt x="3670300" y="152401"/>
                </a:cubicBezTo>
                <a:lnTo>
                  <a:pt x="3670300" y="2235199"/>
                </a:lnTo>
                <a:cubicBezTo>
                  <a:pt x="3670300" y="2319368"/>
                  <a:pt x="3602068" y="2387600"/>
                  <a:pt x="3517899" y="2387600"/>
                </a:cubicBezTo>
                <a:lnTo>
                  <a:pt x="152401" y="2387600"/>
                </a:lnTo>
                <a:cubicBezTo>
                  <a:pt x="68232" y="2387600"/>
                  <a:pt x="0" y="2319368"/>
                  <a:pt x="0" y="2235199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  <a:ln w="10160">
            <a:solidFill>
              <a:srgbClr val="3A76B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482455" y="2921000"/>
            <a:ext cx="1117600" cy="1117600"/>
          </a:xfrm>
          <a:custGeom>
            <a:avLst/>
            <a:gdLst/>
            <a:ahLst/>
            <a:cxnLst/>
            <a:rect l="l" t="t" r="r" b="b"/>
            <a:pathLst>
              <a:path w="1117600" h="1117600">
                <a:moveTo>
                  <a:pt x="558800" y="0"/>
                </a:moveTo>
                <a:lnTo>
                  <a:pt x="558800" y="0"/>
                </a:lnTo>
                <a:cubicBezTo>
                  <a:pt x="867210" y="0"/>
                  <a:pt x="1117600" y="250390"/>
                  <a:pt x="1117600" y="558800"/>
                </a:cubicBezTo>
                <a:lnTo>
                  <a:pt x="1117600" y="558800"/>
                </a:lnTo>
                <a:cubicBezTo>
                  <a:pt x="1117600" y="867210"/>
                  <a:pt x="867210" y="1117600"/>
                  <a:pt x="558800" y="1117600"/>
                </a:cubicBezTo>
                <a:lnTo>
                  <a:pt x="558800" y="1117600"/>
                </a:lnTo>
                <a:cubicBezTo>
                  <a:pt x="250390" y="1117600"/>
                  <a:pt x="0" y="867210"/>
                  <a:pt x="0" y="558800"/>
                </a:cubicBezTo>
                <a:lnTo>
                  <a:pt x="0" y="558800"/>
                </a:lnTo>
                <a:cubicBezTo>
                  <a:pt x="0" y="250390"/>
                  <a:pt x="250390" y="0"/>
                  <a:pt x="5588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34B1C9"/>
            </a:solidFill>
            <a:prstDash val="solid"/>
          </a:ln>
        </p:spPr>
      </p:sp>
      <p:pic>
        <p:nvPicPr>
          <p:cNvPr id="17" name="Image 3" descr="https://statics.moonshot.cn/kimi-ppt/html-gen/static/image-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3255" y="2971800"/>
            <a:ext cx="1117600" cy="1117600"/>
          </a:xfrm>
          <a:prstGeom prst="roundRect">
            <a:avLst>
              <a:gd name="adj" fmla="val 50000"/>
            </a:avLst>
          </a:prstGeom>
        </p:spPr>
      </p:pic>
      <p:sp>
        <p:nvSpPr>
          <p:cNvPr id="18" name="Text 12"/>
          <p:cNvSpPr/>
          <p:nvPr/>
        </p:nvSpPr>
        <p:spPr>
          <a:xfrm>
            <a:off x="8469154" y="4292600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AEAE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ASAM VISHNU VARDHAN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558814" y="46482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4B1C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2403A54080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Pipeline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4224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Synthetic Sensor Simulation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133600"/>
            <a:ext cx="985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`data_simulation.py` creates realistic 50 Hz tri-axial accelerometer streams for idle, walking, and running minutes by modulating sinusoidal gait signatures with Gaussian noise.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3048000"/>
            <a:ext cx="11684000" cy="1930400"/>
          </a:xfrm>
          <a:custGeom>
            <a:avLst/>
            <a:gdLst/>
            <a:ahLst/>
            <a:cxnLst/>
            <a:rect l="l" t="t" r="r" b="b"/>
            <a:pathLst>
              <a:path w="11684000" h="1930400">
                <a:moveTo>
                  <a:pt x="101597" y="0"/>
                </a:moveTo>
                <a:lnTo>
                  <a:pt x="11582403" y="0"/>
                </a:lnTo>
                <a:cubicBezTo>
                  <a:pt x="11638513" y="0"/>
                  <a:pt x="11684000" y="45487"/>
                  <a:pt x="11684000" y="101597"/>
                </a:cubicBezTo>
                <a:lnTo>
                  <a:pt x="11684000" y="1828803"/>
                </a:lnTo>
                <a:cubicBezTo>
                  <a:pt x="11684000" y="1884913"/>
                  <a:pt x="11638513" y="1930400"/>
                  <a:pt x="115824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609725" y="3428842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57AFFF"/>
          </a:solidFill>
          <a:ln/>
        </p:spPr>
      </p:sp>
      <p:sp>
        <p:nvSpPr>
          <p:cNvPr id="7" name="Text 4"/>
          <p:cNvSpPr/>
          <p:nvPr/>
        </p:nvSpPr>
        <p:spPr>
          <a:xfrm>
            <a:off x="1485741" y="3987642"/>
            <a:ext cx="76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Script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1874" y="4343242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`data_simulation.py`</a:t>
            </a:r>
            <a:endParaRPr lang="en-US" sz="1600" dirty="0"/>
          </a:p>
        </p:txBody>
      </p:sp>
      <p:pic>
        <p:nvPicPr>
          <p:cNvPr id="9" name="Image 1" descr="https://kimi-web-img.moonshot.cn/img/c8.alamy.com/63b456af9b0c01d998c854d2dc206a9a5fe78d5d.jpg"/>
          <p:cNvPicPr>
            <a:picLocks noChangeAspect="1"/>
          </p:cNvPicPr>
          <p:nvPr/>
        </p:nvPicPr>
        <p:blipFill>
          <a:blip r:embed="rId4"/>
          <a:srcRect t="35779" b="35779"/>
          <a:stretch/>
        </p:blipFill>
        <p:spPr>
          <a:xfrm>
            <a:off x="3479800" y="3251200"/>
            <a:ext cx="5232400" cy="1219200"/>
          </a:xfrm>
          <a:prstGeom prst="roundRect">
            <a:avLst>
              <a:gd name="adj" fmla="val 6250"/>
            </a:avLst>
          </a:prstGeom>
        </p:spPr>
      </p:pic>
      <p:sp>
        <p:nvSpPr>
          <p:cNvPr id="10" name="Text 6"/>
          <p:cNvSpPr/>
          <p:nvPr/>
        </p:nvSpPr>
        <p:spPr>
          <a:xfrm>
            <a:off x="4787265" y="4572000"/>
            <a:ext cx="269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Generates realistic accelerometer data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0067925" y="3428842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85725" y="0"/>
                </a:moveTo>
                <a:cubicBezTo>
                  <a:pt x="54203" y="0"/>
                  <a:pt x="28575" y="25628"/>
                  <a:pt x="28575" y="57150"/>
                </a:cubicBezTo>
                <a:lnTo>
                  <a:pt x="28575" y="400050"/>
                </a:lnTo>
                <a:cubicBezTo>
                  <a:pt x="28575" y="431572"/>
                  <a:pt x="54203" y="457200"/>
                  <a:pt x="85725" y="457200"/>
                </a:cubicBezTo>
                <a:lnTo>
                  <a:pt x="157163" y="457200"/>
                </a:lnTo>
                <a:lnTo>
                  <a:pt x="157163" y="357188"/>
                </a:lnTo>
                <a:cubicBezTo>
                  <a:pt x="157163" y="325666"/>
                  <a:pt x="182791" y="300038"/>
                  <a:pt x="214313" y="300038"/>
                </a:cubicBezTo>
                <a:lnTo>
                  <a:pt x="371475" y="300038"/>
                </a:lnTo>
                <a:lnTo>
                  <a:pt x="371475" y="152251"/>
                </a:lnTo>
                <a:cubicBezTo>
                  <a:pt x="371475" y="137071"/>
                  <a:pt x="365492" y="122515"/>
                  <a:pt x="354776" y="111800"/>
                </a:cubicBezTo>
                <a:lnTo>
                  <a:pt x="259586" y="16699"/>
                </a:lnTo>
                <a:cubicBezTo>
                  <a:pt x="248870" y="5983"/>
                  <a:pt x="234404" y="0"/>
                  <a:pt x="219224" y="0"/>
                </a:cubicBezTo>
                <a:lnTo>
                  <a:pt x="85725" y="0"/>
                </a:lnTo>
                <a:close/>
                <a:moveTo>
                  <a:pt x="319236" y="157163"/>
                </a:moveTo>
                <a:lnTo>
                  <a:pt x="235744" y="157163"/>
                </a:lnTo>
                <a:cubicBezTo>
                  <a:pt x="223867" y="157163"/>
                  <a:pt x="214313" y="147608"/>
                  <a:pt x="214313" y="135731"/>
                </a:cubicBezTo>
                <a:lnTo>
                  <a:pt x="214313" y="52239"/>
                </a:lnTo>
                <a:lnTo>
                  <a:pt x="319236" y="157163"/>
                </a:lnTo>
                <a:close/>
                <a:moveTo>
                  <a:pt x="235744" y="339328"/>
                </a:moveTo>
                <a:cubicBezTo>
                  <a:pt x="214045" y="339328"/>
                  <a:pt x="196453" y="356920"/>
                  <a:pt x="196453" y="378619"/>
                </a:cubicBezTo>
                <a:lnTo>
                  <a:pt x="196453" y="450056"/>
                </a:lnTo>
                <a:cubicBezTo>
                  <a:pt x="196453" y="471755"/>
                  <a:pt x="214045" y="489347"/>
                  <a:pt x="235744" y="489347"/>
                </a:cubicBezTo>
                <a:lnTo>
                  <a:pt x="250031" y="489347"/>
                </a:lnTo>
                <a:cubicBezTo>
                  <a:pt x="271730" y="489347"/>
                  <a:pt x="289322" y="471755"/>
                  <a:pt x="289322" y="450056"/>
                </a:cubicBezTo>
                <a:lnTo>
                  <a:pt x="289322" y="442913"/>
                </a:lnTo>
                <a:cubicBezTo>
                  <a:pt x="289322" y="433090"/>
                  <a:pt x="281285" y="425053"/>
                  <a:pt x="271463" y="425053"/>
                </a:cubicBezTo>
                <a:cubicBezTo>
                  <a:pt x="261640" y="425053"/>
                  <a:pt x="253603" y="433090"/>
                  <a:pt x="253603" y="442913"/>
                </a:cubicBezTo>
                <a:lnTo>
                  <a:pt x="253603" y="450056"/>
                </a:lnTo>
                <a:cubicBezTo>
                  <a:pt x="253603" y="452021"/>
                  <a:pt x="251996" y="453628"/>
                  <a:pt x="250031" y="453628"/>
                </a:cubicBezTo>
                <a:lnTo>
                  <a:pt x="235744" y="453628"/>
                </a:lnTo>
                <a:cubicBezTo>
                  <a:pt x="233779" y="453628"/>
                  <a:pt x="232172" y="452021"/>
                  <a:pt x="232172" y="450056"/>
                </a:cubicBezTo>
                <a:lnTo>
                  <a:pt x="232172" y="378619"/>
                </a:lnTo>
                <a:cubicBezTo>
                  <a:pt x="232172" y="376654"/>
                  <a:pt x="233779" y="375047"/>
                  <a:pt x="235744" y="375047"/>
                </a:cubicBezTo>
                <a:lnTo>
                  <a:pt x="250031" y="375047"/>
                </a:lnTo>
                <a:cubicBezTo>
                  <a:pt x="251996" y="375047"/>
                  <a:pt x="253603" y="376654"/>
                  <a:pt x="253603" y="378619"/>
                </a:cubicBezTo>
                <a:lnTo>
                  <a:pt x="253603" y="385763"/>
                </a:lnTo>
                <a:cubicBezTo>
                  <a:pt x="253603" y="395585"/>
                  <a:pt x="261640" y="403622"/>
                  <a:pt x="271463" y="403622"/>
                </a:cubicBezTo>
                <a:cubicBezTo>
                  <a:pt x="281285" y="403622"/>
                  <a:pt x="289322" y="395585"/>
                  <a:pt x="289322" y="385763"/>
                </a:cubicBezTo>
                <a:lnTo>
                  <a:pt x="289322" y="378619"/>
                </a:lnTo>
                <a:cubicBezTo>
                  <a:pt x="289322" y="356920"/>
                  <a:pt x="271730" y="339328"/>
                  <a:pt x="250031" y="339328"/>
                </a:cubicBezTo>
                <a:lnTo>
                  <a:pt x="235744" y="339328"/>
                </a:lnTo>
                <a:close/>
                <a:moveTo>
                  <a:pt x="357188" y="339328"/>
                </a:moveTo>
                <a:cubicBezTo>
                  <a:pt x="331559" y="339328"/>
                  <a:pt x="310753" y="360134"/>
                  <a:pt x="310753" y="385763"/>
                </a:cubicBezTo>
                <a:cubicBezTo>
                  <a:pt x="310753" y="411391"/>
                  <a:pt x="331559" y="432197"/>
                  <a:pt x="357188" y="432197"/>
                </a:cubicBezTo>
                <a:cubicBezTo>
                  <a:pt x="363081" y="432197"/>
                  <a:pt x="367903" y="437019"/>
                  <a:pt x="367903" y="442913"/>
                </a:cubicBezTo>
                <a:cubicBezTo>
                  <a:pt x="367903" y="448806"/>
                  <a:pt x="363081" y="453628"/>
                  <a:pt x="357188" y="453628"/>
                </a:cubicBezTo>
                <a:lnTo>
                  <a:pt x="328613" y="453628"/>
                </a:lnTo>
                <a:cubicBezTo>
                  <a:pt x="318790" y="453628"/>
                  <a:pt x="310753" y="461665"/>
                  <a:pt x="310753" y="471488"/>
                </a:cubicBezTo>
                <a:cubicBezTo>
                  <a:pt x="310753" y="481310"/>
                  <a:pt x="318790" y="489347"/>
                  <a:pt x="328613" y="489347"/>
                </a:cubicBezTo>
                <a:lnTo>
                  <a:pt x="357188" y="489347"/>
                </a:lnTo>
                <a:cubicBezTo>
                  <a:pt x="382816" y="489347"/>
                  <a:pt x="403622" y="468541"/>
                  <a:pt x="403622" y="442913"/>
                </a:cubicBezTo>
                <a:cubicBezTo>
                  <a:pt x="403622" y="417284"/>
                  <a:pt x="382816" y="396478"/>
                  <a:pt x="357188" y="396478"/>
                </a:cubicBezTo>
                <a:cubicBezTo>
                  <a:pt x="351294" y="396478"/>
                  <a:pt x="346472" y="391656"/>
                  <a:pt x="346472" y="385763"/>
                </a:cubicBezTo>
                <a:cubicBezTo>
                  <a:pt x="346472" y="379869"/>
                  <a:pt x="351294" y="375047"/>
                  <a:pt x="357188" y="375047"/>
                </a:cubicBezTo>
                <a:lnTo>
                  <a:pt x="378619" y="375047"/>
                </a:lnTo>
                <a:cubicBezTo>
                  <a:pt x="388441" y="375047"/>
                  <a:pt x="396478" y="367010"/>
                  <a:pt x="396478" y="357188"/>
                </a:cubicBezTo>
                <a:cubicBezTo>
                  <a:pt x="396478" y="347365"/>
                  <a:pt x="388441" y="339328"/>
                  <a:pt x="378619" y="339328"/>
                </a:cubicBezTo>
                <a:lnTo>
                  <a:pt x="357188" y="339328"/>
                </a:lnTo>
                <a:close/>
                <a:moveTo>
                  <a:pt x="442913" y="339328"/>
                </a:moveTo>
                <a:cubicBezTo>
                  <a:pt x="433090" y="339328"/>
                  <a:pt x="425053" y="347365"/>
                  <a:pt x="425053" y="357188"/>
                </a:cubicBezTo>
                <a:lnTo>
                  <a:pt x="425053" y="385405"/>
                </a:lnTo>
                <a:cubicBezTo>
                  <a:pt x="425053" y="417106"/>
                  <a:pt x="434429" y="448181"/>
                  <a:pt x="452021" y="474524"/>
                </a:cubicBezTo>
                <a:lnTo>
                  <a:pt x="456575" y="481399"/>
                </a:lnTo>
                <a:cubicBezTo>
                  <a:pt x="459879" y="486400"/>
                  <a:pt x="465505" y="489347"/>
                  <a:pt x="471398" y="489347"/>
                </a:cubicBezTo>
                <a:cubicBezTo>
                  <a:pt x="477292" y="489347"/>
                  <a:pt x="482917" y="486400"/>
                  <a:pt x="486221" y="481399"/>
                </a:cubicBezTo>
                <a:lnTo>
                  <a:pt x="490776" y="474524"/>
                </a:lnTo>
                <a:cubicBezTo>
                  <a:pt x="508367" y="448092"/>
                  <a:pt x="517743" y="417106"/>
                  <a:pt x="517743" y="385405"/>
                </a:cubicBezTo>
                <a:lnTo>
                  <a:pt x="517743" y="357187"/>
                </a:lnTo>
                <a:cubicBezTo>
                  <a:pt x="517743" y="347365"/>
                  <a:pt x="509707" y="339328"/>
                  <a:pt x="499884" y="339328"/>
                </a:cubicBezTo>
                <a:cubicBezTo>
                  <a:pt x="490061" y="339328"/>
                  <a:pt x="482025" y="347365"/>
                  <a:pt x="482025" y="357187"/>
                </a:cubicBezTo>
                <a:lnTo>
                  <a:pt x="482025" y="385405"/>
                </a:lnTo>
                <a:cubicBezTo>
                  <a:pt x="482025" y="402908"/>
                  <a:pt x="478363" y="420142"/>
                  <a:pt x="471309" y="436037"/>
                </a:cubicBezTo>
                <a:cubicBezTo>
                  <a:pt x="464254" y="420142"/>
                  <a:pt x="460593" y="402907"/>
                  <a:pt x="460593" y="385405"/>
                </a:cubicBezTo>
                <a:lnTo>
                  <a:pt x="460593" y="357187"/>
                </a:lnTo>
                <a:cubicBezTo>
                  <a:pt x="460593" y="347365"/>
                  <a:pt x="452557" y="339328"/>
                  <a:pt x="442734" y="339328"/>
                </a:cubicBez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12" name="Text 8"/>
          <p:cNvSpPr/>
          <p:nvPr/>
        </p:nvSpPr>
        <p:spPr>
          <a:xfrm>
            <a:off x="9893459" y="3987642"/>
            <a:ext cx="86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702641" y="4343242"/>
            <a:ext cx="124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`sim_data.csv`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09550" y="5181442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Exports ground-truth step labels and body-weight metadata for downstream validation.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549400"/>
            <a:ext cx="5765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Peak-Based Step Detection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768600"/>
            <a:ext cx="563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`step_detection.py` reads the magnitude signal and applies a </a:t>
            </a:r>
            <a:r>
              <a:rPr lang="en-US" sz="1600" dirty="0">
                <a:solidFill>
                  <a:srgbClr val="57AFFF"/>
                </a:solidFill>
                <a:highlight>
                  <a:srgbClr val="57A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0.4 s minimum inter-peak distance </a:t>
            </a: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 adaptive prominence threshold to isolate heel-strike spikes.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04800" y="3937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6" name="Text 3"/>
          <p:cNvSpPr/>
          <p:nvPr/>
        </p:nvSpPr>
        <p:spPr>
          <a:xfrm>
            <a:off x="558800" y="3886200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Achieves </a:t>
            </a:r>
            <a:r>
              <a:rPr lang="en-US" sz="1600" b="1" dirty="0">
                <a:solidFill>
                  <a:srgbClr val="57A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&lt;3% error</a:t>
            </a: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against ground truth.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4800" y="4343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8" name="Text 5"/>
          <p:cNvSpPr/>
          <p:nvPr/>
        </p:nvSpPr>
        <p:spPr>
          <a:xfrm>
            <a:off x="558800" y="4292600"/>
            <a:ext cx="427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Robust across speeds and phone placements.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9720" y="4749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10" name="Text 7"/>
          <p:cNvSpPr/>
          <p:nvPr/>
        </p:nvSpPr>
        <p:spPr>
          <a:xfrm>
            <a:off x="548799" y="4699000"/>
            <a:ext cx="5346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Writes per-minute counts to `detected_steps_summary.csv`.</a:t>
            </a:r>
            <a:endParaRPr lang="en-US" sz="1600" dirty="0"/>
          </a:p>
        </p:txBody>
      </p:sp>
      <p:pic>
        <p:nvPicPr>
          <p:cNvPr id="11" name="Image 1" descr="https://kimi-web-img.moonshot.cn/img/xpic.x-mol.com/f8bc405bb7f1d854335facb9be510297a141036b.PNG"/>
          <p:cNvPicPr>
            <a:picLocks noChangeAspect="1"/>
          </p:cNvPicPr>
          <p:nvPr/>
        </p:nvPicPr>
        <p:blipFill>
          <a:blip r:embed="rId4"/>
          <a:srcRect l="10862" r="10862"/>
          <a:stretch/>
        </p:blipFill>
        <p:spPr>
          <a:xfrm>
            <a:off x="6096000" y="1397000"/>
            <a:ext cx="5842000" cy="4064000"/>
          </a:xfrm>
          <a:prstGeom prst="roundRect">
            <a:avLst>
              <a:gd name="adj" fmla="val 2500"/>
            </a:avLst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Calibration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7526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Calorie Regression Model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463800"/>
            <a:ext cx="985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`model_train.py` merges detected steps with user weight, fits a linear-regression calorie estimator, and evaluates its performance.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40301" y="3378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85725" y="0"/>
                </a:moveTo>
                <a:cubicBezTo>
                  <a:pt x="54203" y="0"/>
                  <a:pt x="28575" y="25628"/>
                  <a:pt x="28575" y="57150"/>
                </a:cubicBezTo>
                <a:lnTo>
                  <a:pt x="28575" y="400050"/>
                </a:lnTo>
                <a:cubicBezTo>
                  <a:pt x="28575" y="431572"/>
                  <a:pt x="54203" y="457200"/>
                  <a:pt x="85725" y="457200"/>
                </a:cubicBezTo>
                <a:lnTo>
                  <a:pt x="157163" y="457200"/>
                </a:lnTo>
                <a:lnTo>
                  <a:pt x="157163" y="357188"/>
                </a:lnTo>
                <a:cubicBezTo>
                  <a:pt x="157163" y="325666"/>
                  <a:pt x="182791" y="300038"/>
                  <a:pt x="214313" y="300038"/>
                </a:cubicBezTo>
                <a:lnTo>
                  <a:pt x="371475" y="300038"/>
                </a:lnTo>
                <a:lnTo>
                  <a:pt x="371475" y="152251"/>
                </a:lnTo>
                <a:cubicBezTo>
                  <a:pt x="371475" y="137071"/>
                  <a:pt x="365492" y="122515"/>
                  <a:pt x="354776" y="111800"/>
                </a:cubicBezTo>
                <a:lnTo>
                  <a:pt x="259586" y="16699"/>
                </a:lnTo>
                <a:cubicBezTo>
                  <a:pt x="248870" y="5983"/>
                  <a:pt x="234404" y="0"/>
                  <a:pt x="219224" y="0"/>
                </a:cubicBezTo>
                <a:lnTo>
                  <a:pt x="85725" y="0"/>
                </a:lnTo>
                <a:close/>
                <a:moveTo>
                  <a:pt x="319236" y="157163"/>
                </a:moveTo>
                <a:lnTo>
                  <a:pt x="235744" y="157163"/>
                </a:lnTo>
                <a:cubicBezTo>
                  <a:pt x="223867" y="157163"/>
                  <a:pt x="214313" y="147608"/>
                  <a:pt x="214313" y="135731"/>
                </a:cubicBezTo>
                <a:lnTo>
                  <a:pt x="214313" y="52239"/>
                </a:lnTo>
                <a:lnTo>
                  <a:pt x="319236" y="157163"/>
                </a:lnTo>
                <a:close/>
                <a:moveTo>
                  <a:pt x="235744" y="339328"/>
                </a:moveTo>
                <a:cubicBezTo>
                  <a:pt x="214045" y="339328"/>
                  <a:pt x="196453" y="356920"/>
                  <a:pt x="196453" y="378619"/>
                </a:cubicBezTo>
                <a:lnTo>
                  <a:pt x="196453" y="450056"/>
                </a:lnTo>
                <a:cubicBezTo>
                  <a:pt x="196453" y="471755"/>
                  <a:pt x="214045" y="489347"/>
                  <a:pt x="235744" y="489347"/>
                </a:cubicBezTo>
                <a:lnTo>
                  <a:pt x="250031" y="489347"/>
                </a:lnTo>
                <a:cubicBezTo>
                  <a:pt x="271730" y="489347"/>
                  <a:pt x="289322" y="471755"/>
                  <a:pt x="289322" y="450056"/>
                </a:cubicBezTo>
                <a:lnTo>
                  <a:pt x="289322" y="442913"/>
                </a:lnTo>
                <a:cubicBezTo>
                  <a:pt x="289322" y="433090"/>
                  <a:pt x="281285" y="425053"/>
                  <a:pt x="271463" y="425053"/>
                </a:cubicBezTo>
                <a:cubicBezTo>
                  <a:pt x="261640" y="425053"/>
                  <a:pt x="253603" y="433090"/>
                  <a:pt x="253603" y="442913"/>
                </a:cubicBezTo>
                <a:lnTo>
                  <a:pt x="253603" y="450056"/>
                </a:lnTo>
                <a:cubicBezTo>
                  <a:pt x="253603" y="452021"/>
                  <a:pt x="251996" y="453628"/>
                  <a:pt x="250031" y="453628"/>
                </a:cubicBezTo>
                <a:lnTo>
                  <a:pt x="235744" y="453628"/>
                </a:lnTo>
                <a:cubicBezTo>
                  <a:pt x="233779" y="453628"/>
                  <a:pt x="232172" y="452021"/>
                  <a:pt x="232172" y="450056"/>
                </a:cubicBezTo>
                <a:lnTo>
                  <a:pt x="232172" y="378619"/>
                </a:lnTo>
                <a:cubicBezTo>
                  <a:pt x="232172" y="376654"/>
                  <a:pt x="233779" y="375047"/>
                  <a:pt x="235744" y="375047"/>
                </a:cubicBezTo>
                <a:lnTo>
                  <a:pt x="250031" y="375047"/>
                </a:lnTo>
                <a:cubicBezTo>
                  <a:pt x="251996" y="375047"/>
                  <a:pt x="253603" y="376654"/>
                  <a:pt x="253603" y="378619"/>
                </a:cubicBezTo>
                <a:lnTo>
                  <a:pt x="253603" y="385763"/>
                </a:lnTo>
                <a:cubicBezTo>
                  <a:pt x="253603" y="395585"/>
                  <a:pt x="261640" y="403622"/>
                  <a:pt x="271463" y="403622"/>
                </a:cubicBezTo>
                <a:cubicBezTo>
                  <a:pt x="281285" y="403622"/>
                  <a:pt x="289322" y="395585"/>
                  <a:pt x="289322" y="385763"/>
                </a:cubicBezTo>
                <a:lnTo>
                  <a:pt x="289322" y="378619"/>
                </a:lnTo>
                <a:cubicBezTo>
                  <a:pt x="289322" y="356920"/>
                  <a:pt x="271730" y="339328"/>
                  <a:pt x="250031" y="339328"/>
                </a:cubicBezTo>
                <a:lnTo>
                  <a:pt x="235744" y="339328"/>
                </a:lnTo>
                <a:close/>
                <a:moveTo>
                  <a:pt x="357188" y="339328"/>
                </a:moveTo>
                <a:cubicBezTo>
                  <a:pt x="331559" y="339328"/>
                  <a:pt x="310753" y="360134"/>
                  <a:pt x="310753" y="385763"/>
                </a:cubicBezTo>
                <a:cubicBezTo>
                  <a:pt x="310753" y="411391"/>
                  <a:pt x="331559" y="432197"/>
                  <a:pt x="357188" y="432197"/>
                </a:cubicBezTo>
                <a:cubicBezTo>
                  <a:pt x="363081" y="432197"/>
                  <a:pt x="367903" y="437019"/>
                  <a:pt x="367903" y="442913"/>
                </a:cubicBezTo>
                <a:cubicBezTo>
                  <a:pt x="367903" y="448806"/>
                  <a:pt x="363081" y="453628"/>
                  <a:pt x="357188" y="453628"/>
                </a:cubicBezTo>
                <a:lnTo>
                  <a:pt x="328613" y="453628"/>
                </a:lnTo>
                <a:cubicBezTo>
                  <a:pt x="318790" y="453628"/>
                  <a:pt x="310753" y="461665"/>
                  <a:pt x="310753" y="471488"/>
                </a:cubicBezTo>
                <a:cubicBezTo>
                  <a:pt x="310753" y="481310"/>
                  <a:pt x="318790" y="489347"/>
                  <a:pt x="328613" y="489347"/>
                </a:cubicBezTo>
                <a:lnTo>
                  <a:pt x="357188" y="489347"/>
                </a:lnTo>
                <a:cubicBezTo>
                  <a:pt x="382816" y="489347"/>
                  <a:pt x="403622" y="468541"/>
                  <a:pt x="403622" y="442913"/>
                </a:cubicBezTo>
                <a:cubicBezTo>
                  <a:pt x="403622" y="417284"/>
                  <a:pt x="382816" y="396478"/>
                  <a:pt x="357188" y="396478"/>
                </a:cubicBezTo>
                <a:cubicBezTo>
                  <a:pt x="351294" y="396478"/>
                  <a:pt x="346472" y="391656"/>
                  <a:pt x="346472" y="385763"/>
                </a:cubicBezTo>
                <a:cubicBezTo>
                  <a:pt x="346472" y="379869"/>
                  <a:pt x="351294" y="375047"/>
                  <a:pt x="357188" y="375047"/>
                </a:cubicBezTo>
                <a:lnTo>
                  <a:pt x="378619" y="375047"/>
                </a:lnTo>
                <a:cubicBezTo>
                  <a:pt x="388441" y="375047"/>
                  <a:pt x="396478" y="367010"/>
                  <a:pt x="396478" y="357188"/>
                </a:cubicBezTo>
                <a:cubicBezTo>
                  <a:pt x="396478" y="347365"/>
                  <a:pt x="388441" y="339328"/>
                  <a:pt x="378619" y="339328"/>
                </a:cubicBezTo>
                <a:lnTo>
                  <a:pt x="357188" y="339328"/>
                </a:lnTo>
                <a:close/>
                <a:moveTo>
                  <a:pt x="442913" y="339328"/>
                </a:moveTo>
                <a:cubicBezTo>
                  <a:pt x="433090" y="339328"/>
                  <a:pt x="425053" y="347365"/>
                  <a:pt x="425053" y="357188"/>
                </a:cubicBezTo>
                <a:lnTo>
                  <a:pt x="425053" y="385405"/>
                </a:lnTo>
                <a:cubicBezTo>
                  <a:pt x="425053" y="417106"/>
                  <a:pt x="434429" y="448181"/>
                  <a:pt x="452021" y="474524"/>
                </a:cubicBezTo>
                <a:lnTo>
                  <a:pt x="456575" y="481399"/>
                </a:lnTo>
                <a:cubicBezTo>
                  <a:pt x="459879" y="486400"/>
                  <a:pt x="465505" y="489347"/>
                  <a:pt x="471398" y="489347"/>
                </a:cubicBezTo>
                <a:cubicBezTo>
                  <a:pt x="477292" y="489347"/>
                  <a:pt x="482917" y="486400"/>
                  <a:pt x="486221" y="481399"/>
                </a:cubicBezTo>
                <a:lnTo>
                  <a:pt x="490776" y="474524"/>
                </a:lnTo>
                <a:cubicBezTo>
                  <a:pt x="508367" y="448092"/>
                  <a:pt x="517743" y="417106"/>
                  <a:pt x="517743" y="385405"/>
                </a:cubicBezTo>
                <a:lnTo>
                  <a:pt x="517743" y="357187"/>
                </a:lnTo>
                <a:cubicBezTo>
                  <a:pt x="517743" y="347365"/>
                  <a:pt x="509707" y="339328"/>
                  <a:pt x="499884" y="339328"/>
                </a:cubicBezTo>
                <a:cubicBezTo>
                  <a:pt x="490061" y="339328"/>
                  <a:pt x="482025" y="347365"/>
                  <a:pt x="482025" y="357187"/>
                </a:cubicBezTo>
                <a:lnTo>
                  <a:pt x="482025" y="385405"/>
                </a:lnTo>
                <a:cubicBezTo>
                  <a:pt x="482025" y="402908"/>
                  <a:pt x="478363" y="420142"/>
                  <a:pt x="471309" y="436037"/>
                </a:cubicBezTo>
                <a:cubicBezTo>
                  <a:pt x="464254" y="420142"/>
                  <a:pt x="460593" y="402907"/>
                  <a:pt x="460593" y="385405"/>
                </a:cubicBezTo>
                <a:lnTo>
                  <a:pt x="460593" y="357187"/>
                </a:lnTo>
                <a:cubicBezTo>
                  <a:pt x="460593" y="347365"/>
                  <a:pt x="452557" y="339328"/>
                  <a:pt x="442734" y="339328"/>
                </a:cubicBez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6" name="Text 3"/>
          <p:cNvSpPr/>
          <p:nvPr/>
        </p:nvSpPr>
        <p:spPr>
          <a:xfrm>
            <a:off x="849948" y="3937000"/>
            <a:ext cx="109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 Data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7713" y="4241800"/>
            <a:ext cx="129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Steps + Weight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11208" y="37084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05956" y="208419"/>
                </a:moveTo>
                <a:cubicBezTo>
                  <a:pt x="517118" y="219581"/>
                  <a:pt x="517118" y="237708"/>
                  <a:pt x="505956" y="248870"/>
                </a:cubicBezTo>
                <a:lnTo>
                  <a:pt x="391656" y="363170"/>
                </a:lnTo>
                <a:cubicBezTo>
                  <a:pt x="383441" y="371386"/>
                  <a:pt x="371207" y="373797"/>
                  <a:pt x="360491" y="369332"/>
                </a:cubicBezTo>
                <a:cubicBezTo>
                  <a:pt x="349776" y="364867"/>
                  <a:pt x="342900" y="354419"/>
                  <a:pt x="342900" y="342900"/>
                </a:cubicBezTo>
                <a:lnTo>
                  <a:pt x="342900" y="285750"/>
                </a:lnTo>
                <a:lnTo>
                  <a:pt x="42863" y="285750"/>
                </a:lnTo>
                <a:cubicBezTo>
                  <a:pt x="19199" y="285750"/>
                  <a:pt x="0" y="266551"/>
                  <a:pt x="0" y="242888"/>
                </a:cubicBezTo>
                <a:lnTo>
                  <a:pt x="0" y="214313"/>
                </a:lnTo>
                <a:cubicBezTo>
                  <a:pt x="0" y="190649"/>
                  <a:pt x="19199" y="171450"/>
                  <a:pt x="42863" y="171450"/>
                </a:cubicBezTo>
                <a:lnTo>
                  <a:pt x="342900" y="171450"/>
                </a:lnTo>
                <a:lnTo>
                  <a:pt x="342900" y="114300"/>
                </a:lnTo>
                <a:cubicBezTo>
                  <a:pt x="342900" y="102781"/>
                  <a:pt x="349865" y="92333"/>
                  <a:pt x="360581" y="87868"/>
                </a:cubicBezTo>
                <a:cubicBezTo>
                  <a:pt x="371296" y="83403"/>
                  <a:pt x="383530" y="85904"/>
                  <a:pt x="391745" y="94030"/>
                </a:cubicBezTo>
                <a:lnTo>
                  <a:pt x="506045" y="208330"/>
                </a:lnTo>
                <a:close/>
              </a:path>
            </a:pathLst>
          </a:custGeom>
          <a:solidFill>
            <a:srgbClr val="57AFFF"/>
          </a:solidFill>
          <a:ln/>
        </p:spPr>
      </p:sp>
      <p:sp>
        <p:nvSpPr>
          <p:cNvPr id="9" name="Shape 6"/>
          <p:cNvSpPr/>
          <p:nvPr/>
        </p:nvSpPr>
        <p:spPr>
          <a:xfrm>
            <a:off x="5627688" y="337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57AFFF"/>
          </a:solidFill>
          <a:ln/>
        </p:spPr>
      </p:sp>
      <p:sp>
        <p:nvSpPr>
          <p:cNvPr id="10" name="Text 7"/>
          <p:cNvSpPr/>
          <p:nvPr/>
        </p:nvSpPr>
        <p:spPr>
          <a:xfrm>
            <a:off x="5083016" y="3937000"/>
            <a:ext cx="154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90319" y="4241800"/>
            <a:ext cx="153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887018" y="37084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05956" y="208419"/>
                </a:moveTo>
                <a:cubicBezTo>
                  <a:pt x="517118" y="219581"/>
                  <a:pt x="517118" y="237708"/>
                  <a:pt x="505956" y="248870"/>
                </a:cubicBezTo>
                <a:lnTo>
                  <a:pt x="391656" y="363170"/>
                </a:lnTo>
                <a:cubicBezTo>
                  <a:pt x="383441" y="371386"/>
                  <a:pt x="371207" y="373797"/>
                  <a:pt x="360491" y="369332"/>
                </a:cubicBezTo>
                <a:cubicBezTo>
                  <a:pt x="349776" y="364867"/>
                  <a:pt x="342900" y="354419"/>
                  <a:pt x="342900" y="342900"/>
                </a:cubicBezTo>
                <a:lnTo>
                  <a:pt x="342900" y="285750"/>
                </a:lnTo>
                <a:lnTo>
                  <a:pt x="42863" y="285750"/>
                </a:lnTo>
                <a:cubicBezTo>
                  <a:pt x="19199" y="285750"/>
                  <a:pt x="0" y="266551"/>
                  <a:pt x="0" y="242888"/>
                </a:cubicBezTo>
                <a:lnTo>
                  <a:pt x="0" y="214313"/>
                </a:lnTo>
                <a:cubicBezTo>
                  <a:pt x="0" y="190649"/>
                  <a:pt x="19199" y="171450"/>
                  <a:pt x="42863" y="171450"/>
                </a:cubicBezTo>
                <a:lnTo>
                  <a:pt x="342900" y="171450"/>
                </a:lnTo>
                <a:lnTo>
                  <a:pt x="342900" y="114300"/>
                </a:lnTo>
                <a:cubicBezTo>
                  <a:pt x="342900" y="102781"/>
                  <a:pt x="349865" y="92333"/>
                  <a:pt x="360581" y="87868"/>
                </a:cubicBezTo>
                <a:cubicBezTo>
                  <a:pt x="371296" y="83403"/>
                  <a:pt x="383530" y="85904"/>
                  <a:pt x="391745" y="94030"/>
                </a:cubicBezTo>
                <a:lnTo>
                  <a:pt x="506045" y="208330"/>
                </a:lnTo>
                <a:close/>
              </a:path>
            </a:pathLst>
          </a:custGeom>
          <a:solidFill>
            <a:srgbClr val="57A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10297319" y="3378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86171" y="0"/>
                </a:moveTo>
                <a:cubicBezTo>
                  <a:pt x="54650" y="0"/>
                  <a:pt x="29021" y="25628"/>
                  <a:pt x="29021" y="57150"/>
                </a:cubicBezTo>
                <a:lnTo>
                  <a:pt x="29021" y="400050"/>
                </a:lnTo>
                <a:cubicBezTo>
                  <a:pt x="29021" y="431572"/>
                  <a:pt x="54650" y="457200"/>
                  <a:pt x="86171" y="457200"/>
                </a:cubicBezTo>
                <a:lnTo>
                  <a:pt x="314771" y="457200"/>
                </a:lnTo>
                <a:cubicBezTo>
                  <a:pt x="346293" y="457200"/>
                  <a:pt x="371921" y="431572"/>
                  <a:pt x="371921" y="400050"/>
                </a:cubicBezTo>
                <a:lnTo>
                  <a:pt x="371921" y="314325"/>
                </a:lnTo>
                <a:lnTo>
                  <a:pt x="441662" y="314325"/>
                </a:lnTo>
                <a:lnTo>
                  <a:pt x="413980" y="342007"/>
                </a:lnTo>
                <a:cubicBezTo>
                  <a:pt x="405586" y="350401"/>
                  <a:pt x="405586" y="363974"/>
                  <a:pt x="413980" y="372279"/>
                </a:cubicBezTo>
                <a:cubicBezTo>
                  <a:pt x="422374" y="380583"/>
                  <a:pt x="435947" y="380673"/>
                  <a:pt x="444252" y="372279"/>
                </a:cubicBezTo>
                <a:lnTo>
                  <a:pt x="508546" y="307985"/>
                </a:lnTo>
                <a:cubicBezTo>
                  <a:pt x="516940" y="299591"/>
                  <a:pt x="516940" y="286018"/>
                  <a:pt x="508546" y="277713"/>
                </a:cubicBezTo>
                <a:lnTo>
                  <a:pt x="444252" y="213420"/>
                </a:lnTo>
                <a:cubicBezTo>
                  <a:pt x="435858" y="205026"/>
                  <a:pt x="422285" y="205026"/>
                  <a:pt x="413980" y="213420"/>
                </a:cubicBezTo>
                <a:cubicBezTo>
                  <a:pt x="405676" y="221813"/>
                  <a:pt x="405586" y="235387"/>
                  <a:pt x="413980" y="243691"/>
                </a:cubicBezTo>
                <a:lnTo>
                  <a:pt x="441662" y="271373"/>
                </a:lnTo>
                <a:lnTo>
                  <a:pt x="371921" y="271373"/>
                </a:lnTo>
                <a:lnTo>
                  <a:pt x="371921" y="152162"/>
                </a:lnTo>
                <a:cubicBezTo>
                  <a:pt x="371921" y="136981"/>
                  <a:pt x="365939" y="122426"/>
                  <a:pt x="355223" y="111710"/>
                </a:cubicBezTo>
                <a:lnTo>
                  <a:pt x="260033" y="16699"/>
                </a:lnTo>
                <a:cubicBezTo>
                  <a:pt x="249317" y="5983"/>
                  <a:pt x="234851" y="0"/>
                  <a:pt x="219670" y="0"/>
                </a:cubicBezTo>
                <a:lnTo>
                  <a:pt x="86171" y="0"/>
                </a:lnTo>
                <a:close/>
                <a:moveTo>
                  <a:pt x="319683" y="157163"/>
                </a:moveTo>
                <a:lnTo>
                  <a:pt x="236190" y="157163"/>
                </a:lnTo>
                <a:cubicBezTo>
                  <a:pt x="224314" y="157163"/>
                  <a:pt x="214759" y="147608"/>
                  <a:pt x="214759" y="135731"/>
                </a:cubicBezTo>
                <a:lnTo>
                  <a:pt x="214759" y="52239"/>
                </a:lnTo>
                <a:lnTo>
                  <a:pt x="319683" y="157163"/>
                </a:lnTo>
                <a:close/>
                <a:moveTo>
                  <a:pt x="200471" y="292894"/>
                </a:moveTo>
                <a:cubicBezTo>
                  <a:pt x="200471" y="281017"/>
                  <a:pt x="210026" y="271463"/>
                  <a:pt x="221903" y="271463"/>
                </a:cubicBezTo>
                <a:lnTo>
                  <a:pt x="314771" y="271463"/>
                </a:lnTo>
                <a:lnTo>
                  <a:pt x="314771" y="314325"/>
                </a:lnTo>
                <a:lnTo>
                  <a:pt x="221903" y="314325"/>
                </a:lnTo>
                <a:cubicBezTo>
                  <a:pt x="210026" y="314325"/>
                  <a:pt x="200471" y="304770"/>
                  <a:pt x="200471" y="292894"/>
                </a:cubicBez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14" name="Text 11"/>
          <p:cNvSpPr/>
          <p:nvPr/>
        </p:nvSpPr>
        <p:spPr>
          <a:xfrm>
            <a:off x="10170795" y="39370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65177" y="424180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`calorie_model.joblib`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03200" y="48006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Exports `calorie_predictions.csv` with ground-truth, predicted, and residual columns for audit.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666239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Performance Metrics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377439"/>
            <a:ext cx="985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Cross-validation shows high accuracy and reliability, confirming the model's readiness for real-time inference.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40728" y="3393439"/>
            <a:ext cx="2895600" cy="1778000"/>
          </a:xfrm>
          <a:custGeom>
            <a:avLst/>
            <a:gdLst/>
            <a:ahLst/>
            <a:cxnLst/>
            <a:rect l="l" t="t" r="r" b="b"/>
            <a:pathLst>
              <a:path w="2895600" h="1778000">
                <a:moveTo>
                  <a:pt x="152392" y="0"/>
                </a:moveTo>
                <a:lnTo>
                  <a:pt x="2743208" y="0"/>
                </a:lnTo>
                <a:cubicBezTo>
                  <a:pt x="2827372" y="0"/>
                  <a:pt x="2895600" y="68228"/>
                  <a:pt x="2895600" y="152392"/>
                </a:cubicBezTo>
                <a:lnTo>
                  <a:pt x="2895600" y="1625608"/>
                </a:lnTo>
                <a:cubicBezTo>
                  <a:pt x="2895600" y="1709772"/>
                  <a:pt x="2827372" y="1778000"/>
                  <a:pt x="2743208" y="1778000"/>
                </a:cubicBezTo>
                <a:lnTo>
                  <a:pt x="152392" y="1778000"/>
                </a:lnTo>
                <a:cubicBezTo>
                  <a:pt x="68228" y="1778000"/>
                  <a:pt x="0" y="1709772"/>
                  <a:pt x="0" y="1625608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  <a:ln w="10160">
            <a:solidFill>
              <a:srgbClr val="3A76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3288" y="3708400"/>
            <a:ext cx="2590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1237" y="4419600"/>
            <a:ext cx="237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kcal MAE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7588" y="4673600"/>
            <a:ext cx="2362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 minute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35341" y="3393439"/>
            <a:ext cx="2895600" cy="1778000"/>
          </a:xfrm>
          <a:custGeom>
            <a:avLst/>
            <a:gdLst/>
            <a:ahLst/>
            <a:cxnLst/>
            <a:rect l="l" t="t" r="r" b="b"/>
            <a:pathLst>
              <a:path w="2895600" h="1778000">
                <a:moveTo>
                  <a:pt x="152392" y="0"/>
                </a:moveTo>
                <a:lnTo>
                  <a:pt x="2743208" y="0"/>
                </a:lnTo>
                <a:cubicBezTo>
                  <a:pt x="2827372" y="0"/>
                  <a:pt x="2895600" y="68228"/>
                  <a:pt x="2895600" y="152392"/>
                </a:cubicBezTo>
                <a:lnTo>
                  <a:pt x="2895600" y="1625608"/>
                </a:lnTo>
                <a:cubicBezTo>
                  <a:pt x="2895600" y="1709772"/>
                  <a:pt x="2827372" y="1778000"/>
                  <a:pt x="2743208" y="1778000"/>
                </a:cubicBezTo>
                <a:lnTo>
                  <a:pt x="152392" y="1778000"/>
                </a:lnTo>
                <a:cubicBezTo>
                  <a:pt x="68228" y="1778000"/>
                  <a:pt x="0" y="1709772"/>
                  <a:pt x="0" y="1625608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  <a:ln w="10160">
            <a:solidFill>
              <a:srgbClr val="3A76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97901" y="3708400"/>
            <a:ext cx="2590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0.93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05851" y="4419600"/>
            <a:ext cx="237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R² Score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12201" y="4673600"/>
            <a:ext cx="2362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 MET tables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529955" y="3393439"/>
            <a:ext cx="2895600" cy="1778000"/>
          </a:xfrm>
          <a:custGeom>
            <a:avLst/>
            <a:gdLst/>
            <a:ahLst/>
            <a:cxnLst/>
            <a:rect l="l" t="t" r="r" b="b"/>
            <a:pathLst>
              <a:path w="2895600" h="1778000">
                <a:moveTo>
                  <a:pt x="152392" y="0"/>
                </a:moveTo>
                <a:lnTo>
                  <a:pt x="2743208" y="0"/>
                </a:lnTo>
                <a:cubicBezTo>
                  <a:pt x="2827372" y="0"/>
                  <a:pt x="2895600" y="68228"/>
                  <a:pt x="2895600" y="152392"/>
                </a:cubicBezTo>
                <a:lnTo>
                  <a:pt x="2895600" y="1625608"/>
                </a:lnTo>
                <a:cubicBezTo>
                  <a:pt x="2895600" y="1709772"/>
                  <a:pt x="2827372" y="1778000"/>
                  <a:pt x="2743208" y="1778000"/>
                </a:cubicBezTo>
                <a:lnTo>
                  <a:pt x="152392" y="1778000"/>
                </a:lnTo>
                <a:cubicBezTo>
                  <a:pt x="68228" y="1778000"/>
                  <a:pt x="0" y="1709772"/>
                  <a:pt x="0" y="1625608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solidFill>
            <a:srgbClr val="3A76B8">
              <a:alpha val="20000"/>
            </a:srgbClr>
          </a:solidFill>
          <a:ln w="10160">
            <a:solidFill>
              <a:srgbClr val="3A76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92515" y="3708400"/>
            <a:ext cx="2590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1.3%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00465" y="4419600"/>
            <a:ext cx="237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Calorie Error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806815" y="4673600"/>
            <a:ext cx="2362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across weights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Demo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701800"/>
            <a:ext cx="5765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5. Streamlit UI Walkthrough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921000"/>
            <a:ext cx="563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`app.py` provides a user-friendly interface for data input and result visualization.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30200" y="3886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31750"/>
                </a:moveTo>
                <a:cubicBezTo>
                  <a:pt x="7094" y="31750"/>
                  <a:pt x="0" y="38844"/>
                  <a:pt x="0" y="47625"/>
                </a:cubicBezTo>
                <a:cubicBezTo>
                  <a:pt x="0" y="56406"/>
                  <a:pt x="7094" y="63500"/>
                  <a:pt x="15875" y="63500"/>
                </a:cubicBezTo>
                <a:lnTo>
                  <a:pt x="58886" y="63500"/>
                </a:lnTo>
                <a:cubicBezTo>
                  <a:pt x="64988" y="77539"/>
                  <a:pt x="78978" y="87313"/>
                  <a:pt x="95250" y="87313"/>
                </a:cubicBezTo>
                <a:cubicBezTo>
                  <a:pt x="111522" y="87313"/>
                  <a:pt x="125512" y="77539"/>
                  <a:pt x="131614" y="63500"/>
                </a:cubicBezTo>
                <a:lnTo>
                  <a:pt x="238125" y="63500"/>
                </a:lnTo>
                <a:cubicBezTo>
                  <a:pt x="246906" y="63500"/>
                  <a:pt x="254000" y="56406"/>
                  <a:pt x="254000" y="47625"/>
                </a:cubicBezTo>
                <a:cubicBezTo>
                  <a:pt x="254000" y="38844"/>
                  <a:pt x="246906" y="31750"/>
                  <a:pt x="238125" y="31750"/>
                </a:cubicBezTo>
                <a:lnTo>
                  <a:pt x="131614" y="31750"/>
                </a:lnTo>
                <a:cubicBezTo>
                  <a:pt x="125512" y="17711"/>
                  <a:pt x="111522" y="7938"/>
                  <a:pt x="95250" y="7938"/>
                </a:cubicBezTo>
                <a:cubicBezTo>
                  <a:pt x="78978" y="7938"/>
                  <a:pt x="64988" y="17711"/>
                  <a:pt x="58886" y="31750"/>
                </a:cubicBezTo>
                <a:lnTo>
                  <a:pt x="15875" y="31750"/>
                </a:lnTo>
                <a:close/>
                <a:moveTo>
                  <a:pt x="15875" y="111125"/>
                </a:move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38261" y="142875"/>
                </a:lnTo>
                <a:cubicBezTo>
                  <a:pt x="144363" y="156914"/>
                  <a:pt x="158353" y="166688"/>
                  <a:pt x="174625" y="166688"/>
                </a:cubicBezTo>
                <a:cubicBezTo>
                  <a:pt x="190897" y="166688"/>
                  <a:pt x="204887" y="156914"/>
                  <a:pt x="210989" y="142875"/>
                </a:cubicBezTo>
                <a:lnTo>
                  <a:pt x="238125" y="142875"/>
                </a:lnTo>
                <a:cubicBezTo>
                  <a:pt x="246906" y="142875"/>
                  <a:pt x="254000" y="135781"/>
                  <a:pt x="254000" y="127000"/>
                </a:cubicBezTo>
                <a:cubicBezTo>
                  <a:pt x="254000" y="118219"/>
                  <a:pt x="246906" y="111125"/>
                  <a:pt x="238125" y="111125"/>
                </a:cubicBezTo>
                <a:lnTo>
                  <a:pt x="210989" y="111125"/>
                </a:lnTo>
                <a:cubicBezTo>
                  <a:pt x="204887" y="97086"/>
                  <a:pt x="190897" y="87313"/>
                  <a:pt x="174625" y="87313"/>
                </a:cubicBezTo>
                <a:cubicBezTo>
                  <a:pt x="158353" y="87313"/>
                  <a:pt x="144363" y="97086"/>
                  <a:pt x="138261" y="111125"/>
                </a:cubicBezTo>
                <a:lnTo>
                  <a:pt x="15875" y="111125"/>
                </a:lnTo>
                <a:close/>
                <a:moveTo>
                  <a:pt x="15875" y="190500"/>
                </a:moveTo>
                <a:cubicBezTo>
                  <a:pt x="7094" y="190500"/>
                  <a:pt x="0" y="197594"/>
                  <a:pt x="0" y="206375"/>
                </a:cubicBezTo>
                <a:cubicBezTo>
                  <a:pt x="0" y="215156"/>
                  <a:pt x="7094" y="222250"/>
                  <a:pt x="15875" y="222250"/>
                </a:cubicBezTo>
                <a:lnTo>
                  <a:pt x="43011" y="222250"/>
                </a:lnTo>
                <a:cubicBezTo>
                  <a:pt x="49113" y="236289"/>
                  <a:pt x="63103" y="246063"/>
                  <a:pt x="79375" y="246063"/>
                </a:cubicBezTo>
                <a:cubicBezTo>
                  <a:pt x="95647" y="246063"/>
                  <a:pt x="109637" y="236289"/>
                  <a:pt x="115739" y="222250"/>
                </a:cubicBez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ubicBezTo>
                  <a:pt x="254000" y="197594"/>
                  <a:pt x="246906" y="190500"/>
                  <a:pt x="238125" y="190500"/>
                </a:cubicBezTo>
                <a:lnTo>
                  <a:pt x="115739" y="190500"/>
                </a:lnTo>
                <a:cubicBezTo>
                  <a:pt x="109637" y="176461"/>
                  <a:pt x="95647" y="166688"/>
                  <a:pt x="79375" y="166688"/>
                </a:cubicBezTo>
                <a:cubicBezTo>
                  <a:pt x="63103" y="166688"/>
                  <a:pt x="49113" y="176461"/>
                  <a:pt x="43011" y="190500"/>
                </a:cubicBezTo>
                <a:lnTo>
                  <a:pt x="15875" y="190500"/>
                </a:ln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6" name="Text 3"/>
          <p:cNvSpPr/>
          <p:nvPr/>
        </p:nvSpPr>
        <p:spPr>
          <a:xfrm>
            <a:off x="812800" y="3835400"/>
            <a:ext cx="387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7A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Sidebar:</a:t>
            </a: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Input for weight and step-length.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0200" y="4394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8" name="Text 5"/>
          <p:cNvSpPr/>
          <p:nvPr/>
        </p:nvSpPr>
        <p:spPr>
          <a:xfrm>
            <a:off x="812800" y="43434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7A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Dynamic Logging:</a:t>
            </a: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Widgets for session data entry.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0200" y="4902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27000" y="206375"/>
                </a:moveTo>
                <a:cubicBezTo>
                  <a:pt x="144512" y="206375"/>
                  <a:pt x="158750" y="192137"/>
                  <a:pt x="158750" y="174625"/>
                </a:cubicBezTo>
                <a:cubicBezTo>
                  <a:pt x="158750" y="166588"/>
                  <a:pt x="155773" y="159196"/>
                  <a:pt x="150813" y="153640"/>
                </a:cubicBezTo>
                <a:lnTo>
                  <a:pt x="185291" y="84733"/>
                </a:lnTo>
                <a:cubicBezTo>
                  <a:pt x="188218" y="78829"/>
                  <a:pt x="185837" y="71686"/>
                  <a:pt x="179983" y="68759"/>
                </a:cubicBezTo>
                <a:cubicBezTo>
                  <a:pt x="174129" y="65832"/>
                  <a:pt x="166936" y="68213"/>
                  <a:pt x="164009" y="74067"/>
                </a:cubicBezTo>
                <a:lnTo>
                  <a:pt x="129530" y="142974"/>
                </a:lnTo>
                <a:cubicBezTo>
                  <a:pt x="128687" y="142925"/>
                  <a:pt x="127843" y="142875"/>
                  <a:pt x="127000" y="142875"/>
                </a:cubicBezTo>
                <a:cubicBezTo>
                  <a:pt x="109488" y="142875"/>
                  <a:pt x="95250" y="157113"/>
                  <a:pt x="95250" y="174625"/>
                </a:cubicBezTo>
                <a:cubicBezTo>
                  <a:pt x="95250" y="192137"/>
                  <a:pt x="109488" y="206375"/>
                  <a:pt x="127000" y="206375"/>
                </a:cubicBezTo>
                <a:close/>
                <a:moveTo>
                  <a:pt x="87313" y="71438"/>
                </a:moveTo>
                <a:cubicBezTo>
                  <a:pt x="87313" y="62676"/>
                  <a:pt x="80199" y="55563"/>
                  <a:pt x="71438" y="55563"/>
                </a:cubicBezTo>
                <a:cubicBezTo>
                  <a:pt x="62676" y="55563"/>
                  <a:pt x="55563" y="62676"/>
                  <a:pt x="55563" y="71438"/>
                </a:cubicBezTo>
                <a:cubicBezTo>
                  <a:pt x="55563" y="80199"/>
                  <a:pt x="62676" y="87313"/>
                  <a:pt x="71438" y="87313"/>
                </a:cubicBezTo>
                <a:cubicBezTo>
                  <a:pt x="80199" y="87313"/>
                  <a:pt x="87313" y="80199"/>
                  <a:pt x="87313" y="71438"/>
                </a:cubicBezTo>
                <a:close/>
                <a:moveTo>
                  <a:pt x="47625" y="142875"/>
                </a:moveTo>
                <a:cubicBezTo>
                  <a:pt x="56387" y="142875"/>
                  <a:pt x="63500" y="135762"/>
                  <a:pt x="63500" y="127000"/>
                </a:cubicBez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lose/>
                <a:moveTo>
                  <a:pt x="222250" y="127000"/>
                </a:moveTo>
                <a:cubicBezTo>
                  <a:pt x="222250" y="118238"/>
                  <a:pt x="215137" y="111125"/>
                  <a:pt x="206375" y="111125"/>
                </a:cubicBezTo>
                <a:cubicBezTo>
                  <a:pt x="197613" y="111125"/>
                  <a:pt x="190500" y="118238"/>
                  <a:pt x="190500" y="127000"/>
                </a:cubicBezTo>
                <a:cubicBezTo>
                  <a:pt x="190500" y="135762"/>
                  <a:pt x="197613" y="142875"/>
                  <a:pt x="206375" y="142875"/>
                </a:cubicBezTo>
                <a:cubicBezTo>
                  <a:pt x="215137" y="142875"/>
                  <a:pt x="222250" y="135762"/>
                  <a:pt x="222250" y="127000"/>
                </a:cubicBez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10" name="Text 7"/>
          <p:cNvSpPr/>
          <p:nvPr/>
        </p:nvSpPr>
        <p:spPr>
          <a:xfrm>
            <a:off x="812800" y="4851400"/>
            <a:ext cx="463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7A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Dashboard:</a:t>
            </a: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Calculates metrics and plots timeline.</a:t>
            </a:r>
            <a:endParaRPr lang="en-US" sz="1600" dirty="0"/>
          </a:p>
        </p:txBody>
      </p:sp>
      <p:pic>
        <p:nvPicPr>
          <p:cNvPr id="11" name="Image 1" descr="https://kimi-web-img.moonshot.cn/img/nc-tw-prod.kagoyacloud.com/532dfc87777cfd95137f9858ed6e516a848b0649.png"/>
          <p:cNvPicPr>
            <a:picLocks noChangeAspect="1"/>
          </p:cNvPicPr>
          <p:nvPr/>
        </p:nvPicPr>
        <p:blipFill>
          <a:blip r:embed="rId4"/>
          <a:srcRect l="6169" r="6169"/>
          <a:stretch/>
        </p:blipFill>
        <p:spPr>
          <a:xfrm>
            <a:off x="6096000" y="1206500"/>
            <a:ext cx="5842000" cy="4445000"/>
          </a:xfrm>
          <a:prstGeom prst="roundRect">
            <a:avLst>
              <a:gd name="adj" fmla="val 2286"/>
            </a:avLst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7620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6. Live Inference Screenshot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03200" y="14732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dashboard provides real-time feedback, demonstrating high accuracy between formula-based and AI predictions.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9455617" y="1117600"/>
            <a:ext cx="2197100" cy="355600"/>
          </a:xfrm>
          <a:custGeom>
            <a:avLst/>
            <a:gdLst/>
            <a:ahLst/>
            <a:cxnLst/>
            <a:rect l="l" t="t" r="r" b="b"/>
            <a:pathLst>
              <a:path w="2197100" h="355600">
                <a:moveTo>
                  <a:pt x="76202" y="0"/>
                </a:moveTo>
                <a:lnTo>
                  <a:pt x="2120898" y="0"/>
                </a:lnTo>
                <a:cubicBezTo>
                  <a:pt x="2162983" y="0"/>
                  <a:pt x="2197100" y="34117"/>
                  <a:pt x="2197100" y="76202"/>
                </a:cubicBezTo>
                <a:lnTo>
                  <a:pt x="2197100" y="279398"/>
                </a:lnTo>
                <a:cubicBezTo>
                  <a:pt x="2197100" y="321483"/>
                  <a:pt x="2162983" y="355600"/>
                  <a:pt x="2120898" y="355600"/>
                </a:cubicBezTo>
                <a:lnTo>
                  <a:pt x="76202" y="355600"/>
                </a:lnTo>
                <a:cubicBezTo>
                  <a:pt x="34145" y="355600"/>
                  <a:pt x="0" y="321455"/>
                  <a:pt x="0" y="2793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7A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9563567" y="1168918"/>
            <a:ext cx="198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Prediction: 301 kcal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98794" y="1112047"/>
            <a:ext cx="2400300" cy="355600"/>
          </a:xfrm>
          <a:custGeom>
            <a:avLst/>
            <a:gdLst/>
            <a:ahLst/>
            <a:cxnLst/>
            <a:rect l="l" t="t" r="r" b="b"/>
            <a:pathLst>
              <a:path w="2400300" h="355600">
                <a:moveTo>
                  <a:pt x="76202" y="0"/>
                </a:moveTo>
                <a:lnTo>
                  <a:pt x="2324098" y="0"/>
                </a:lnTo>
                <a:cubicBezTo>
                  <a:pt x="2366183" y="0"/>
                  <a:pt x="2400300" y="34117"/>
                  <a:pt x="2400300" y="76202"/>
                </a:cubicBezTo>
                <a:lnTo>
                  <a:pt x="2400300" y="279398"/>
                </a:lnTo>
                <a:cubicBezTo>
                  <a:pt x="2400300" y="321483"/>
                  <a:pt x="2366183" y="355600"/>
                  <a:pt x="2324098" y="355600"/>
                </a:cubicBezTo>
                <a:lnTo>
                  <a:pt x="76202" y="355600"/>
                </a:lnTo>
                <a:cubicBezTo>
                  <a:pt x="34145" y="355600"/>
                  <a:pt x="0" y="321455"/>
                  <a:pt x="0" y="2793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76B8">
              <a:alpha val="80000"/>
            </a:srgbClr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06744" y="1128705"/>
            <a:ext cx="218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Formula Result: 298 kcal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09550" y="5842000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Sub-2% deviation showcases production-ready accuracy.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E9D89B-26F5-88EB-6C87-A77B63491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94" y="1777999"/>
            <a:ext cx="10217020" cy="47132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0195F-A718-E260-AB09-A1BE734B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>
            <a:extLst>
              <a:ext uri="{FF2B5EF4-FFF2-40B4-BE49-F238E27FC236}">
                <a16:creationId xmlns:a16="http://schemas.microsoft.com/office/drawing/2014/main" id="{65C27BDA-4DB1-E731-527C-DDD724FAE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6CF89E8-F879-748A-2866-D419A29B4B13}"/>
              </a:ext>
            </a:extLst>
          </p:cNvPr>
          <p:cNvSpPr/>
          <p:nvPr/>
        </p:nvSpPr>
        <p:spPr>
          <a:xfrm>
            <a:off x="139700" y="7620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9492D87-5F4C-7C11-2B5E-BBC7F4F37F4B}"/>
              </a:ext>
            </a:extLst>
          </p:cNvPr>
          <p:cNvSpPr/>
          <p:nvPr/>
        </p:nvSpPr>
        <p:spPr>
          <a:xfrm>
            <a:off x="203200" y="14732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32A4C1A-4644-1DCB-7293-BEDAADFDF737}"/>
              </a:ext>
            </a:extLst>
          </p:cNvPr>
          <p:cNvSpPr/>
          <p:nvPr/>
        </p:nvSpPr>
        <p:spPr>
          <a:xfrm>
            <a:off x="9563567" y="1168918"/>
            <a:ext cx="198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507FED0-AB97-B722-2AB9-54F043AED9CB}"/>
              </a:ext>
            </a:extLst>
          </p:cNvPr>
          <p:cNvSpPr/>
          <p:nvPr/>
        </p:nvSpPr>
        <p:spPr>
          <a:xfrm>
            <a:off x="306744" y="1128705"/>
            <a:ext cx="218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6F9779C-C497-6968-1B3F-B8D5AC3C102D}"/>
              </a:ext>
            </a:extLst>
          </p:cNvPr>
          <p:cNvSpPr/>
          <p:nvPr/>
        </p:nvSpPr>
        <p:spPr>
          <a:xfrm>
            <a:off x="209550" y="5842000"/>
            <a:ext cx="1177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Sub-2% deviation showcases production-ready accuracy.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D5F2CA-2C0F-3EFF-C9D0-1DF606579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22" y="762000"/>
            <a:ext cx="11390734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3889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426"/>
            <a:ext cx="12191999" cy="6864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9359" y="3709831"/>
            <a:ext cx="3832016" cy="984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Results &amp; Future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06-d2nf7fh8bjvh7rlj0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99" y="3446152"/>
            <a:ext cx="3657600" cy="127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4893310" y="1477010"/>
            <a:ext cx="2284095" cy="233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800" dirty="0">
                <a:gradFill flip="none" rotWithShape="0">
                  <a:gsLst>
                    <a:gs pos="0">
                      <a:srgbClr val="FFFFFF">
                        <a:alpha val="61000"/>
                      </a:srgbClr>
                    </a:gs>
                    <a:gs pos="28000">
                      <a:srgbClr val="FFFFFF">
                        <a:alpha val="61000"/>
                      </a:srgbClr>
                    </a:gs>
                    <a:gs pos="78000">
                      <a:srgbClr val="FFFFFF"/>
                    </a:gs>
                    <a:gs pos="100000">
                      <a:srgbClr val="FFFFFF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ingFang SC Medium" pitchFamily="34" charset="0"/>
                <a:ea typeface="PingFang SC Medium" pitchFamily="34" charset="-122"/>
                <a:cs typeface="PingFang SC Medium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6256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7. Accuracy vs Ground Truth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336800"/>
            <a:ext cx="985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Aggregated over 30 minutes of mixed activities, the system demonstrated high accuracy without user calibration.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858327" y="33528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52425" y="228600"/>
                </a:moveTo>
                <a:cubicBezTo>
                  <a:pt x="327303" y="214193"/>
                  <a:pt x="302062" y="199787"/>
                  <a:pt x="266700" y="193715"/>
                </a:cubicBezTo>
                <a:lnTo>
                  <a:pt x="266700" y="26670"/>
                </a:lnTo>
                <a:cubicBezTo>
                  <a:pt x="306824" y="15478"/>
                  <a:pt x="370761" y="0"/>
                  <a:pt x="419100" y="0"/>
                </a:cubicBezTo>
                <a:cubicBezTo>
                  <a:pt x="533400" y="0"/>
                  <a:pt x="685800" y="57150"/>
                  <a:pt x="685800" y="152400"/>
                </a:cubicBezTo>
                <a:cubicBezTo>
                  <a:pt x="685800" y="247650"/>
                  <a:pt x="543401" y="266700"/>
                  <a:pt x="476250" y="266700"/>
                </a:cubicBezTo>
                <a:cubicBezTo>
                  <a:pt x="419100" y="266700"/>
                  <a:pt x="385763" y="247650"/>
                  <a:pt x="352425" y="228600"/>
                </a:cubicBezTo>
                <a:close/>
                <a:moveTo>
                  <a:pt x="152400" y="38100"/>
                </a:moveTo>
                <a:lnTo>
                  <a:pt x="209550" y="38100"/>
                </a:lnTo>
                <a:lnTo>
                  <a:pt x="209550" y="190500"/>
                </a:lnTo>
                <a:lnTo>
                  <a:pt x="152400" y="190500"/>
                </a:lnTo>
                <a:cubicBezTo>
                  <a:pt x="110371" y="190500"/>
                  <a:pt x="76200" y="156329"/>
                  <a:pt x="76200" y="114300"/>
                </a:cubicBezTo>
                <a:cubicBezTo>
                  <a:pt x="76200" y="72271"/>
                  <a:pt x="110371" y="38100"/>
                  <a:pt x="152400" y="38100"/>
                </a:cubicBezTo>
                <a:close/>
                <a:moveTo>
                  <a:pt x="276225" y="381000"/>
                </a:moveTo>
                <a:cubicBezTo>
                  <a:pt x="309563" y="361950"/>
                  <a:pt x="342900" y="342900"/>
                  <a:pt x="400050" y="342900"/>
                </a:cubicBezTo>
                <a:cubicBezTo>
                  <a:pt x="467201" y="342900"/>
                  <a:pt x="609600" y="361950"/>
                  <a:pt x="609600" y="457200"/>
                </a:cubicBezTo>
                <a:cubicBezTo>
                  <a:pt x="609600" y="552450"/>
                  <a:pt x="457200" y="609600"/>
                  <a:pt x="342900" y="609600"/>
                </a:cubicBezTo>
                <a:cubicBezTo>
                  <a:pt x="294680" y="609600"/>
                  <a:pt x="230624" y="594122"/>
                  <a:pt x="190500" y="582930"/>
                </a:cubicBezTo>
                <a:lnTo>
                  <a:pt x="190500" y="415885"/>
                </a:lnTo>
                <a:cubicBezTo>
                  <a:pt x="225862" y="409694"/>
                  <a:pt x="251103" y="395287"/>
                  <a:pt x="276225" y="380881"/>
                </a:cubicBezTo>
                <a:close/>
                <a:moveTo>
                  <a:pt x="76200" y="571500"/>
                </a:moveTo>
                <a:cubicBezTo>
                  <a:pt x="34171" y="571500"/>
                  <a:pt x="0" y="537329"/>
                  <a:pt x="0" y="495300"/>
                </a:cubicBezTo>
                <a:cubicBezTo>
                  <a:pt x="0" y="453271"/>
                  <a:pt x="34171" y="419100"/>
                  <a:pt x="76200" y="419100"/>
                </a:cubicBezTo>
                <a:lnTo>
                  <a:pt x="133350" y="419100"/>
                </a:lnTo>
                <a:lnTo>
                  <a:pt x="133350" y="571500"/>
                </a:lnTo>
                <a:lnTo>
                  <a:pt x="76200" y="571500"/>
                </a:ln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6" name="Text 3"/>
          <p:cNvSpPr/>
          <p:nvPr/>
        </p:nvSpPr>
        <p:spPr>
          <a:xfrm>
            <a:off x="1623060" y="4064000"/>
            <a:ext cx="1155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&lt;1%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85119" y="4622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Error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78610" y="4978400"/>
            <a:ext cx="124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(2,986 / 2,999)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29141" y="33528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191095" y="-31432"/>
                </a:moveTo>
                <a:cubicBezTo>
                  <a:pt x="202168" y="-40719"/>
                  <a:pt x="218480" y="-40362"/>
                  <a:pt x="229076" y="-30361"/>
                </a:cubicBezTo>
                <a:cubicBezTo>
                  <a:pt x="243721" y="-16550"/>
                  <a:pt x="256818" y="-1310"/>
                  <a:pt x="269438" y="14168"/>
                </a:cubicBezTo>
                <a:cubicBezTo>
                  <a:pt x="285512" y="33814"/>
                  <a:pt x="304800" y="59769"/>
                  <a:pt x="323374" y="90607"/>
                </a:cubicBezTo>
                <a:cubicBezTo>
                  <a:pt x="329565" y="82510"/>
                  <a:pt x="335280" y="75367"/>
                  <a:pt x="340281" y="69294"/>
                </a:cubicBezTo>
                <a:cubicBezTo>
                  <a:pt x="341590" y="67747"/>
                  <a:pt x="342900" y="66080"/>
                  <a:pt x="344210" y="64413"/>
                </a:cubicBezTo>
                <a:cubicBezTo>
                  <a:pt x="353616" y="52745"/>
                  <a:pt x="365284" y="38100"/>
                  <a:pt x="380881" y="38100"/>
                </a:cubicBezTo>
                <a:cubicBezTo>
                  <a:pt x="396835" y="38100"/>
                  <a:pt x="408027" y="52268"/>
                  <a:pt x="417552" y="64413"/>
                </a:cubicBezTo>
                <a:cubicBezTo>
                  <a:pt x="419100" y="66437"/>
                  <a:pt x="420648" y="68342"/>
                  <a:pt x="422196" y="70128"/>
                </a:cubicBezTo>
                <a:cubicBezTo>
                  <a:pt x="434459" y="84892"/>
                  <a:pt x="450771" y="106204"/>
                  <a:pt x="467082" y="132517"/>
                </a:cubicBezTo>
                <a:cubicBezTo>
                  <a:pt x="499467" y="184785"/>
                  <a:pt x="533281" y="259199"/>
                  <a:pt x="533281" y="342781"/>
                </a:cubicBezTo>
                <a:cubicBezTo>
                  <a:pt x="533281" y="490061"/>
                  <a:pt x="413861" y="609481"/>
                  <a:pt x="266581" y="609481"/>
                </a:cubicBezTo>
                <a:cubicBezTo>
                  <a:pt x="119301" y="609481"/>
                  <a:pt x="0" y="490180"/>
                  <a:pt x="0" y="342900"/>
                </a:cubicBezTo>
                <a:cubicBezTo>
                  <a:pt x="0" y="234434"/>
                  <a:pt x="48935" y="140494"/>
                  <a:pt x="95845" y="75009"/>
                </a:cubicBezTo>
                <a:cubicBezTo>
                  <a:pt x="119539" y="42029"/>
                  <a:pt x="143113" y="15597"/>
                  <a:pt x="160853" y="-2500"/>
                </a:cubicBezTo>
                <a:cubicBezTo>
                  <a:pt x="170617" y="-12502"/>
                  <a:pt x="180499" y="-22384"/>
                  <a:pt x="191214" y="-31313"/>
                </a:cubicBezTo>
                <a:close/>
                <a:moveTo>
                  <a:pt x="268724" y="495300"/>
                </a:moveTo>
                <a:cubicBezTo>
                  <a:pt x="298847" y="495300"/>
                  <a:pt x="325517" y="486966"/>
                  <a:pt x="350639" y="470297"/>
                </a:cubicBezTo>
                <a:cubicBezTo>
                  <a:pt x="400764" y="435293"/>
                  <a:pt x="414218" y="365284"/>
                  <a:pt x="384096" y="310277"/>
                </a:cubicBezTo>
                <a:cubicBezTo>
                  <a:pt x="378738" y="299561"/>
                  <a:pt x="365046" y="298847"/>
                  <a:pt x="357307" y="307896"/>
                </a:cubicBezTo>
                <a:lnTo>
                  <a:pt x="327303" y="342781"/>
                </a:lnTo>
                <a:cubicBezTo>
                  <a:pt x="319445" y="351830"/>
                  <a:pt x="305276" y="351592"/>
                  <a:pt x="297894" y="342186"/>
                </a:cubicBezTo>
                <a:cubicBezTo>
                  <a:pt x="277297" y="315873"/>
                  <a:pt x="239435" y="267891"/>
                  <a:pt x="220147" y="243364"/>
                </a:cubicBezTo>
                <a:cubicBezTo>
                  <a:pt x="213717" y="235148"/>
                  <a:pt x="202049" y="233839"/>
                  <a:pt x="194548" y="241102"/>
                </a:cubicBezTo>
                <a:cubicBezTo>
                  <a:pt x="172760" y="262295"/>
                  <a:pt x="133231" y="308729"/>
                  <a:pt x="133231" y="365284"/>
                </a:cubicBezTo>
                <a:cubicBezTo>
                  <a:pt x="133231" y="446961"/>
                  <a:pt x="193477" y="495300"/>
                  <a:pt x="268605" y="495300"/>
                </a:cubicBez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10" name="Text 7"/>
          <p:cNvSpPr/>
          <p:nvPr/>
        </p:nvSpPr>
        <p:spPr>
          <a:xfrm>
            <a:off x="5460524" y="4064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1.3%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39874" y="4622800"/>
            <a:ext cx="151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Calorie Error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38616" y="497840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(149 / 151 kcal)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723755" y="33528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138827" y="228600"/>
                </a:moveTo>
                <a:cubicBezTo>
                  <a:pt x="135255" y="216575"/>
                  <a:pt x="133350" y="203716"/>
                  <a:pt x="133350" y="190500"/>
                </a:cubicBezTo>
                <a:cubicBezTo>
                  <a:pt x="133350" y="116800"/>
                  <a:pt x="193000" y="57150"/>
                  <a:pt x="266700" y="57150"/>
                </a:cubicBezTo>
                <a:cubicBezTo>
                  <a:pt x="340400" y="57150"/>
                  <a:pt x="400050" y="116800"/>
                  <a:pt x="400050" y="190500"/>
                </a:cubicBezTo>
                <a:cubicBezTo>
                  <a:pt x="400050" y="203716"/>
                  <a:pt x="398145" y="216575"/>
                  <a:pt x="394573" y="228600"/>
                </a:cubicBezTo>
                <a:lnTo>
                  <a:pt x="310039" y="228600"/>
                </a:lnTo>
                <a:lnTo>
                  <a:pt x="339328" y="175855"/>
                </a:lnTo>
                <a:cubicBezTo>
                  <a:pt x="346948" y="162044"/>
                  <a:pt x="342067" y="144661"/>
                  <a:pt x="328255" y="137041"/>
                </a:cubicBezTo>
                <a:cubicBezTo>
                  <a:pt x="314444" y="129421"/>
                  <a:pt x="297061" y="134303"/>
                  <a:pt x="289441" y="148114"/>
                </a:cubicBezTo>
                <a:lnTo>
                  <a:pt x="244673" y="228719"/>
                </a:lnTo>
                <a:lnTo>
                  <a:pt x="138946" y="228719"/>
                </a:lnTo>
                <a:close/>
                <a:moveTo>
                  <a:pt x="152400" y="38100"/>
                </a:moveTo>
                <a:lnTo>
                  <a:pt x="76200" y="38100"/>
                </a:lnTo>
                <a:cubicBezTo>
                  <a:pt x="34171" y="38100"/>
                  <a:pt x="0" y="72271"/>
                  <a:pt x="0" y="1143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114300"/>
                </a:lnTo>
                <a:cubicBezTo>
                  <a:pt x="533400" y="72271"/>
                  <a:pt x="499229" y="38100"/>
                  <a:pt x="457200" y="38100"/>
                </a:cubicBezTo>
                <a:lnTo>
                  <a:pt x="381000" y="38100"/>
                </a:lnTo>
                <a:cubicBezTo>
                  <a:pt x="349210" y="14168"/>
                  <a:pt x="309563" y="0"/>
                  <a:pt x="266700" y="0"/>
                </a:cubicBezTo>
                <a:cubicBezTo>
                  <a:pt x="223838" y="0"/>
                  <a:pt x="184190" y="14168"/>
                  <a:pt x="152400" y="38100"/>
                </a:cubicBezTo>
                <a:close/>
              </a:path>
            </a:pathLst>
          </a:custGeom>
          <a:solidFill>
            <a:srgbClr val="34B1C9"/>
          </a:solidFill>
          <a:ln/>
        </p:spPr>
      </p:sp>
      <p:sp>
        <p:nvSpPr>
          <p:cNvPr id="14" name="Text 11"/>
          <p:cNvSpPr/>
          <p:nvPr/>
        </p:nvSpPr>
        <p:spPr>
          <a:xfrm>
            <a:off x="9329896" y="4064000"/>
            <a:ext cx="132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Valid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190514" y="4622800"/>
            <a:ext cx="160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Weight Model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387681" y="497840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(7700 kcal/kg)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0-d2nf7gh8bjvh7rlj06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68200" cy="686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1303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57A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8. Next-Step Roadmap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1841500"/>
            <a:ext cx="985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Planned upgrades focus on real-time capabilities, enhanced privacy, and broader integration.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41148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A76B8">
              <a:alpha val="50196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409700" y="4140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4B1C9"/>
          </a:solidFill>
          <a:ln w="50800">
            <a:solidFill>
              <a:srgbClr val="1A1A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43050" y="4292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57150"/>
                </a:moveTo>
                <a:cubicBezTo>
                  <a:pt x="117336" y="57150"/>
                  <a:pt x="68342" y="78581"/>
                  <a:pt x="32325" y="113467"/>
                </a:cubicBezTo>
                <a:cubicBezTo>
                  <a:pt x="24765" y="120789"/>
                  <a:pt x="12680" y="120610"/>
                  <a:pt x="5417" y="113050"/>
                </a:cubicBezTo>
                <a:cubicBezTo>
                  <a:pt x="-1845" y="105489"/>
                  <a:pt x="-1726" y="93405"/>
                  <a:pt x="5834" y="86142"/>
                </a:cubicBezTo>
                <a:cubicBezTo>
                  <a:pt x="48637" y="44589"/>
                  <a:pt x="107097" y="19050"/>
                  <a:pt x="171450" y="19050"/>
                </a:cubicBezTo>
                <a:cubicBezTo>
                  <a:pt x="235803" y="19050"/>
                  <a:pt x="294263" y="44589"/>
                  <a:pt x="337125" y="86142"/>
                </a:cubicBezTo>
                <a:cubicBezTo>
                  <a:pt x="344686" y="93464"/>
                  <a:pt x="344865" y="105549"/>
                  <a:pt x="337542" y="113050"/>
                </a:cubicBezTo>
                <a:cubicBezTo>
                  <a:pt x="330220" y="120551"/>
                  <a:pt x="318135" y="120789"/>
                  <a:pt x="310634" y="113467"/>
                </a:cubicBezTo>
                <a:cubicBezTo>
                  <a:pt x="274558" y="78581"/>
                  <a:pt x="225564" y="57150"/>
                  <a:pt x="171450" y="57150"/>
                </a:cubicBezTo>
                <a:close/>
                <a:moveTo>
                  <a:pt x="142875" y="257175"/>
                </a:moveTo>
                <a:cubicBezTo>
                  <a:pt x="142875" y="241404"/>
                  <a:pt x="155679" y="228600"/>
                  <a:pt x="171450" y="228600"/>
                </a:cubicBezTo>
                <a:cubicBezTo>
                  <a:pt x="187221" y="228600"/>
                  <a:pt x="200025" y="241404"/>
                  <a:pt x="200025" y="257175"/>
                </a:cubicBezTo>
                <a:cubicBezTo>
                  <a:pt x="200025" y="272946"/>
                  <a:pt x="187221" y="285750"/>
                  <a:pt x="171450" y="285750"/>
                </a:cubicBezTo>
                <a:cubicBezTo>
                  <a:pt x="155679" y="285750"/>
                  <a:pt x="142875" y="272946"/>
                  <a:pt x="142875" y="257175"/>
                </a:cubicBezTo>
                <a:close/>
                <a:moveTo>
                  <a:pt x="100013" y="194191"/>
                </a:moveTo>
                <a:cubicBezTo>
                  <a:pt x="93047" y="202109"/>
                  <a:pt x="81022" y="202823"/>
                  <a:pt x="73104" y="195858"/>
                </a:cubicBezTo>
                <a:cubicBezTo>
                  <a:pt x="65187" y="188893"/>
                  <a:pt x="64472" y="176867"/>
                  <a:pt x="71438" y="168950"/>
                </a:cubicBezTo>
                <a:cubicBezTo>
                  <a:pt x="95845" y="141327"/>
                  <a:pt x="131624" y="123825"/>
                  <a:pt x="171450" y="123825"/>
                </a:cubicBezTo>
                <a:cubicBezTo>
                  <a:pt x="211276" y="123825"/>
                  <a:pt x="247055" y="141327"/>
                  <a:pt x="271463" y="168950"/>
                </a:cubicBezTo>
                <a:cubicBezTo>
                  <a:pt x="278428" y="176867"/>
                  <a:pt x="277654" y="188893"/>
                  <a:pt x="269796" y="195858"/>
                </a:cubicBezTo>
                <a:cubicBezTo>
                  <a:pt x="261937" y="202823"/>
                  <a:pt x="249853" y="202049"/>
                  <a:pt x="242888" y="194191"/>
                </a:cubicBezTo>
                <a:cubicBezTo>
                  <a:pt x="225385" y="174367"/>
                  <a:pt x="199906" y="161925"/>
                  <a:pt x="171450" y="161925"/>
                </a:cubicBezTo>
                <a:cubicBezTo>
                  <a:pt x="142994" y="161925"/>
                  <a:pt x="117515" y="174367"/>
                  <a:pt x="100013" y="194191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8" name="Text 5"/>
          <p:cNvSpPr/>
          <p:nvPr/>
        </p:nvSpPr>
        <p:spPr>
          <a:xfrm>
            <a:off x="1178084" y="4851400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8210" y="5156200"/>
            <a:ext cx="1587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WebSocket Streaming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30700" y="4140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4B1C9"/>
          </a:solidFill>
          <a:ln w="50800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3100" y="429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2" name="Text 9"/>
          <p:cNvSpPr/>
          <p:nvPr/>
        </p:nvSpPr>
        <p:spPr>
          <a:xfrm>
            <a:off x="4223067" y="4851400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932238" y="5156200"/>
            <a:ext cx="1409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Federated Learning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51700" y="4140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4B1C9"/>
          </a:solidFill>
          <a:ln w="50800">
            <a:solidFill>
              <a:srgbClr val="1A1A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85050" y="4292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9734" y="57150"/>
                </a:moveTo>
                <a:cubicBezTo>
                  <a:pt x="239851" y="57150"/>
                  <a:pt x="230267" y="59829"/>
                  <a:pt x="221873" y="64710"/>
                </a:cubicBezTo>
                <a:cubicBezTo>
                  <a:pt x="212467" y="55185"/>
                  <a:pt x="201513" y="47208"/>
                  <a:pt x="189428" y="41196"/>
                </a:cubicBezTo>
                <a:cubicBezTo>
                  <a:pt x="206216" y="26908"/>
                  <a:pt x="227588" y="19050"/>
                  <a:pt x="249734" y="19050"/>
                </a:cubicBezTo>
                <a:cubicBezTo>
                  <a:pt x="301169" y="19050"/>
                  <a:pt x="342900" y="60722"/>
                  <a:pt x="342900" y="112216"/>
                </a:cubicBezTo>
                <a:cubicBezTo>
                  <a:pt x="342900" y="136922"/>
                  <a:pt x="333077" y="160615"/>
                  <a:pt x="315635" y="178058"/>
                </a:cubicBezTo>
                <a:lnTo>
                  <a:pt x="273308" y="220385"/>
                </a:lnTo>
                <a:cubicBezTo>
                  <a:pt x="255865" y="237827"/>
                  <a:pt x="232172" y="247650"/>
                  <a:pt x="207466" y="247650"/>
                </a:cubicBezTo>
                <a:cubicBezTo>
                  <a:pt x="156031" y="247650"/>
                  <a:pt x="114300" y="205978"/>
                  <a:pt x="114300" y="154484"/>
                </a:cubicBezTo>
                <a:cubicBezTo>
                  <a:pt x="114300" y="153591"/>
                  <a:pt x="114300" y="152698"/>
                  <a:pt x="114360" y="151805"/>
                </a:cubicBezTo>
                <a:cubicBezTo>
                  <a:pt x="114657" y="141268"/>
                  <a:pt x="123408" y="132993"/>
                  <a:pt x="133945" y="133290"/>
                </a:cubicBezTo>
                <a:cubicBezTo>
                  <a:pt x="144482" y="133588"/>
                  <a:pt x="152757" y="142339"/>
                  <a:pt x="152460" y="152876"/>
                </a:cubicBezTo>
                <a:cubicBezTo>
                  <a:pt x="152460" y="153412"/>
                  <a:pt x="152460" y="153948"/>
                  <a:pt x="152460" y="154424"/>
                </a:cubicBezTo>
                <a:cubicBezTo>
                  <a:pt x="152460" y="184845"/>
                  <a:pt x="177105" y="209490"/>
                  <a:pt x="207526" y="209490"/>
                </a:cubicBezTo>
                <a:cubicBezTo>
                  <a:pt x="222111" y="209490"/>
                  <a:pt x="236101" y="203716"/>
                  <a:pt x="246459" y="193358"/>
                </a:cubicBezTo>
                <a:lnTo>
                  <a:pt x="288786" y="151031"/>
                </a:lnTo>
                <a:cubicBezTo>
                  <a:pt x="299085" y="140732"/>
                  <a:pt x="304919" y="126683"/>
                  <a:pt x="304919" y="112097"/>
                </a:cubicBezTo>
                <a:cubicBezTo>
                  <a:pt x="304919" y="81677"/>
                  <a:pt x="280273" y="57031"/>
                  <a:pt x="249853" y="57031"/>
                </a:cubicBezTo>
                <a:close/>
                <a:moveTo>
                  <a:pt x="163830" y="103168"/>
                </a:moveTo>
                <a:cubicBezTo>
                  <a:pt x="162699" y="102691"/>
                  <a:pt x="161568" y="102037"/>
                  <a:pt x="160556" y="101322"/>
                </a:cubicBezTo>
                <a:cubicBezTo>
                  <a:pt x="153055" y="97453"/>
                  <a:pt x="144482" y="95250"/>
                  <a:pt x="135493" y="95250"/>
                </a:cubicBezTo>
                <a:cubicBezTo>
                  <a:pt x="120908" y="95250"/>
                  <a:pt x="106918" y="101025"/>
                  <a:pt x="96560" y="111383"/>
                </a:cubicBezTo>
                <a:lnTo>
                  <a:pt x="54233" y="153710"/>
                </a:lnTo>
                <a:cubicBezTo>
                  <a:pt x="43934" y="164009"/>
                  <a:pt x="38100" y="178058"/>
                  <a:pt x="38100" y="192643"/>
                </a:cubicBezTo>
                <a:cubicBezTo>
                  <a:pt x="38100" y="223064"/>
                  <a:pt x="62746" y="247710"/>
                  <a:pt x="93166" y="247710"/>
                </a:cubicBezTo>
                <a:cubicBezTo>
                  <a:pt x="102989" y="247710"/>
                  <a:pt x="112574" y="245090"/>
                  <a:pt x="120967" y="240209"/>
                </a:cubicBezTo>
                <a:cubicBezTo>
                  <a:pt x="130373" y="249734"/>
                  <a:pt x="141327" y="257711"/>
                  <a:pt x="153472" y="263723"/>
                </a:cubicBezTo>
                <a:cubicBezTo>
                  <a:pt x="136684" y="277951"/>
                  <a:pt x="115372" y="285869"/>
                  <a:pt x="93166" y="285869"/>
                </a:cubicBezTo>
                <a:cubicBezTo>
                  <a:pt x="41731" y="285869"/>
                  <a:pt x="0" y="244197"/>
                  <a:pt x="0" y="192703"/>
                </a:cubicBezTo>
                <a:cubicBezTo>
                  <a:pt x="0" y="167997"/>
                  <a:pt x="9823" y="144304"/>
                  <a:pt x="27265" y="126861"/>
                </a:cubicBezTo>
                <a:lnTo>
                  <a:pt x="69592" y="84534"/>
                </a:lnTo>
                <a:cubicBezTo>
                  <a:pt x="87035" y="67092"/>
                  <a:pt x="110728" y="57269"/>
                  <a:pt x="135434" y="57269"/>
                </a:cubicBezTo>
                <a:cubicBezTo>
                  <a:pt x="186988" y="57269"/>
                  <a:pt x="228600" y="99298"/>
                  <a:pt x="228600" y="150674"/>
                </a:cubicBezTo>
                <a:cubicBezTo>
                  <a:pt x="228600" y="151448"/>
                  <a:pt x="228600" y="152221"/>
                  <a:pt x="228600" y="152995"/>
                </a:cubicBezTo>
                <a:cubicBezTo>
                  <a:pt x="228362" y="163532"/>
                  <a:pt x="219611" y="171807"/>
                  <a:pt x="209074" y="171569"/>
                </a:cubicBezTo>
                <a:cubicBezTo>
                  <a:pt x="198537" y="171331"/>
                  <a:pt x="190262" y="162580"/>
                  <a:pt x="190500" y="152043"/>
                </a:cubicBezTo>
                <a:cubicBezTo>
                  <a:pt x="190500" y="151567"/>
                  <a:pt x="190500" y="151150"/>
                  <a:pt x="190500" y="150674"/>
                </a:cubicBezTo>
                <a:cubicBezTo>
                  <a:pt x="190500" y="130612"/>
                  <a:pt x="179784" y="112990"/>
                  <a:pt x="163830" y="103287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6" name="Text 13"/>
          <p:cNvSpPr/>
          <p:nvPr/>
        </p:nvSpPr>
        <p:spPr>
          <a:xfrm>
            <a:off x="6980714" y="4851400"/>
            <a:ext cx="1155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22783" y="5156200"/>
            <a:ext cx="106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Fit API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172700" y="4140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4B1C9"/>
          </a:solidFill>
          <a:ln w="50800">
            <a:solidFill>
              <a:srgbClr val="1A1A1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363200" y="4292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9525" y="38100"/>
                </a:moveTo>
                <a:cubicBezTo>
                  <a:pt x="9525" y="17085"/>
                  <a:pt x="26610" y="0"/>
                  <a:pt x="47625" y="0"/>
                </a:cubicBezTo>
                <a:lnTo>
                  <a:pt x="180975" y="0"/>
                </a:lnTo>
                <a:cubicBezTo>
                  <a:pt x="201990" y="0"/>
                  <a:pt x="219075" y="17085"/>
                  <a:pt x="219075" y="38100"/>
                </a:cubicBezTo>
                <a:lnTo>
                  <a:pt x="219075" y="266700"/>
                </a:lnTo>
                <a:cubicBezTo>
                  <a:pt x="219075" y="287715"/>
                  <a:pt x="201990" y="304800"/>
                  <a:pt x="180975" y="304800"/>
                </a:cubicBezTo>
                <a:lnTo>
                  <a:pt x="47625" y="304800"/>
                </a:lnTo>
                <a:cubicBezTo>
                  <a:pt x="26610" y="304800"/>
                  <a:pt x="9525" y="287715"/>
                  <a:pt x="9525" y="266700"/>
                </a:cubicBezTo>
                <a:lnTo>
                  <a:pt x="9525" y="38100"/>
                </a:lnTo>
                <a:close/>
                <a:moveTo>
                  <a:pt x="47625" y="38100"/>
                </a:moveTo>
                <a:lnTo>
                  <a:pt x="47625" y="219075"/>
                </a:lnTo>
                <a:lnTo>
                  <a:pt x="180975" y="219075"/>
                </a:lnTo>
                <a:lnTo>
                  <a:pt x="180975" y="38100"/>
                </a:lnTo>
                <a:lnTo>
                  <a:pt x="47625" y="38100"/>
                </a:lnTo>
                <a:close/>
                <a:moveTo>
                  <a:pt x="114300" y="280987"/>
                </a:moveTo>
                <a:cubicBezTo>
                  <a:pt x="124837" y="280987"/>
                  <a:pt x="133350" y="272475"/>
                  <a:pt x="133350" y="261937"/>
                </a:cubicBezTo>
                <a:cubicBezTo>
                  <a:pt x="133350" y="251400"/>
                  <a:pt x="124837" y="242888"/>
                  <a:pt x="114300" y="242888"/>
                </a:cubicBezTo>
                <a:cubicBezTo>
                  <a:pt x="103763" y="242888"/>
                  <a:pt x="95250" y="251400"/>
                  <a:pt x="95250" y="261937"/>
                </a:cubicBezTo>
                <a:cubicBezTo>
                  <a:pt x="95250" y="272475"/>
                  <a:pt x="103763" y="280987"/>
                  <a:pt x="114300" y="280987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0" name="Text 17"/>
          <p:cNvSpPr/>
          <p:nvPr/>
        </p:nvSpPr>
        <p:spPr>
          <a:xfrm>
            <a:off x="10042843" y="4851400"/>
            <a:ext cx="86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Mobility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066655" y="5156200"/>
            <a:ext cx="82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AEAE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Flutter App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99" cy="68646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1820" y="2417445"/>
            <a:ext cx="7571740" cy="14922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8335" y="4560570"/>
            <a:ext cx="159766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2463165" y="4560570"/>
            <a:ext cx="173355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571</Words>
  <Application>Microsoft Office PowerPoint</Application>
  <PresentationFormat>Widescreen</PresentationFormat>
  <Paragraphs>130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MiSans</vt:lpstr>
      <vt:lpstr>Arial</vt:lpstr>
      <vt:lpstr>Noto Sans SC</vt:lpstr>
      <vt:lpstr>PingFang SC Medium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Step &amp; Calorie Monitor</dc:title>
  <dc:subject>AI Step &amp; Calorie Monitor</dc:subject>
  <dc:creator>Kimi</dc:creator>
  <cp:lastModifiedBy>Vishnu Vardhan</cp:lastModifiedBy>
  <cp:revision>2</cp:revision>
  <dcterms:created xsi:type="dcterms:W3CDTF">2025-11-21T10:50:14Z</dcterms:created>
  <dcterms:modified xsi:type="dcterms:W3CDTF">2025-11-21T11:08:41Z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 Step &amp; Calorie Monitor","ContentProducer":"001191110108MACG2KBH8F10000","ProduceID":"d4g3vkgi2d8bc9evs550","ReservedCode1":"","ContentPropagator":"001191110108MACG2KBH8F20000","PropagateID":"d4g3vkgi2d8bc9evs550","ReservedCode2":""}</vt:lpwstr>
  </property>
</Properties>
</file>